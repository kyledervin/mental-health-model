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19"/>
  </p:notesMasterIdLst>
  <p:sldIdLst>
    <p:sldId id="256" r:id="rId2"/>
    <p:sldId id="262" r:id="rId3"/>
    <p:sldId id="261" r:id="rId4"/>
    <p:sldId id="257" r:id="rId5"/>
    <p:sldId id="264" r:id="rId6"/>
    <p:sldId id="266" r:id="rId7"/>
    <p:sldId id="259" r:id="rId8"/>
    <p:sldId id="265" r:id="rId9"/>
    <p:sldId id="267" r:id="rId10"/>
    <p:sldId id="274" r:id="rId11"/>
    <p:sldId id="268" r:id="rId12"/>
    <p:sldId id="273" r:id="rId13"/>
    <p:sldId id="275" r:id="rId14"/>
    <p:sldId id="276" r:id="rId15"/>
    <p:sldId id="269" r:id="rId16"/>
    <p:sldId id="260" r:id="rId17"/>
    <p:sldId id="271"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C056286-3352-C086-949C-1FE5223D58EE}" v="52" dt="2025-12-08T23:20:49.505"/>
    <p1510:client id="{B3D4DA1A-2412-024C-97BA-D261EAD16368}" v="553" dt="2025-12-08T22:29:37.50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cSldViewPr>
  </p:slide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F38D4F4-1A71-3842-A43C-476D14670C84}" type="datetimeFigureOut">
              <a:rPr lang="en-US" smtClean="0"/>
              <a:t>12/8/2025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345AD10-CF06-7B4E-94C0-5040B9032887}" type="slidenum">
              <a:rPr lang="en-US" smtClean="0"/>
              <a:t>‹#›</a:t>
            </a:fld>
            <a:endParaRPr lang="en-US"/>
          </a:p>
        </p:txBody>
      </p:sp>
    </p:spTree>
    <p:extLst>
      <p:ext uri="{BB962C8B-B14F-4D97-AF65-F5344CB8AC3E}">
        <p14:creationId xmlns:p14="http://schemas.microsoft.com/office/powerpoint/2010/main" val="1887682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F345AD10-CF06-7B4E-94C0-5040B9032887}" type="slidenum">
              <a:rPr lang="en-US" smtClean="0"/>
              <a:t>7</a:t>
            </a:fld>
            <a:endParaRPr lang="en-US"/>
          </a:p>
        </p:txBody>
      </p:sp>
    </p:spTree>
    <p:extLst>
      <p:ext uri="{BB962C8B-B14F-4D97-AF65-F5344CB8AC3E}">
        <p14:creationId xmlns:p14="http://schemas.microsoft.com/office/powerpoint/2010/main" val="405871708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chemeClr val="accent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bwMode="blackWhite">
          <a:xfrm>
            <a:off x="1600200" y="2386744"/>
            <a:ext cx="8991600" cy="1645920"/>
          </a:xfrm>
          <a:solidFill>
            <a:srgbClr val="FFFFFF"/>
          </a:solidFill>
          <a:ln w="38100">
            <a:solidFill>
              <a:srgbClr val="404040"/>
            </a:solidFill>
          </a:ln>
        </p:spPr>
        <p:txBody>
          <a:bodyPr lIns="274320" rIns="274320" anchor="ctr" anchorCtr="1">
            <a:normAutofit/>
          </a:bodyPr>
          <a:lstStyle>
            <a:lvl1pPr algn="ctr">
              <a:defRPr sz="3800">
                <a:solidFill>
                  <a:srgbClr val="262626"/>
                </a:solidFill>
              </a:defRPr>
            </a:lvl1pPr>
          </a:lstStyle>
          <a:p>
            <a:r>
              <a:rPr lang="en-US"/>
              <a:t>Click to edit Master title style</a:t>
            </a:r>
          </a:p>
        </p:txBody>
      </p:sp>
      <p:sp>
        <p:nvSpPr>
          <p:cNvPr id="3" name="Subtitle 2"/>
          <p:cNvSpPr>
            <a:spLocks noGrp="1"/>
          </p:cNvSpPr>
          <p:nvPr>
            <p:ph type="subTitle" idx="1"/>
          </p:nvPr>
        </p:nvSpPr>
        <p:spPr>
          <a:xfrm>
            <a:off x="2695194" y="4352544"/>
            <a:ext cx="6801612" cy="1239894"/>
          </a:xfrm>
          <a:noFill/>
        </p:spPr>
        <p:txBody>
          <a:bodyPr>
            <a:normAutofit/>
          </a:bodyPr>
          <a:lstStyle>
            <a:lvl1pPr marL="0" indent="0" algn="ctr">
              <a:buNone/>
              <a:defRPr sz="2000">
                <a:solidFill>
                  <a:schemeClr val="tx1">
                    <a:lumMod val="75000"/>
                    <a:lumOff val="2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7" name="Date Placeholder 6"/>
          <p:cNvSpPr>
            <a:spLocks noGrp="1"/>
          </p:cNvSpPr>
          <p:nvPr>
            <p:ph type="dt" sz="half" idx="10"/>
          </p:nvPr>
        </p:nvSpPr>
        <p:spPr/>
        <p:txBody>
          <a:bodyPr/>
          <a:lstStyle/>
          <a:p>
            <a:fld id="{A61DFA66-5DDA-1042-89DF-54304151B3DC}" type="datetimeFigureOut">
              <a:rPr lang="en-US" smtClean="0"/>
              <a:t>12/8/2025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A6853A3C-1A8D-A04A-B41F-C1ADA16DB67B}" type="slidenum">
              <a:rPr lang="en-US" smtClean="0"/>
              <a:t>‹#›</a:t>
            </a:fld>
            <a:endParaRPr lang="en-US"/>
          </a:p>
        </p:txBody>
      </p:sp>
    </p:spTree>
    <p:extLst>
      <p:ext uri="{BB962C8B-B14F-4D97-AF65-F5344CB8AC3E}">
        <p14:creationId xmlns:p14="http://schemas.microsoft.com/office/powerpoint/2010/main" val="1089685615"/>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A61DFA66-5DDA-1042-89DF-54304151B3DC}" type="datetimeFigureOut">
              <a:rPr lang="en-US" smtClean="0"/>
              <a:t>12/8/2025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A6853A3C-1A8D-A04A-B41F-C1ADA16DB67B}" type="slidenum">
              <a:rPr lang="en-US" smtClean="0"/>
              <a:t>‹#›</a:t>
            </a:fld>
            <a:endParaRPr lang="en-US"/>
          </a:p>
        </p:txBody>
      </p:sp>
    </p:spTree>
    <p:extLst>
      <p:ext uri="{BB962C8B-B14F-4D97-AF65-F5344CB8AC3E}">
        <p14:creationId xmlns:p14="http://schemas.microsoft.com/office/powerpoint/2010/main" val="304210088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blackWhite">
          <a:xfrm>
            <a:off x="1600200" y="2386744"/>
            <a:ext cx="8991600" cy="1645920"/>
          </a:xfrm>
          <a:solidFill>
            <a:srgbClr val="FFFFFF"/>
          </a:solidFill>
          <a:ln w="38100">
            <a:solidFill>
              <a:srgbClr val="404040"/>
            </a:solidFill>
          </a:ln>
        </p:spPr>
        <p:txBody>
          <a:bodyPr lIns="274320" rIns="274320" anchor="ctr" anchorCtr="1">
            <a:normAutofit/>
          </a:bodyPr>
          <a:lstStyle>
            <a:lvl1pPr>
              <a:defRPr sz="3800">
                <a:solidFill>
                  <a:srgbClr val="262626"/>
                </a:solidFill>
              </a:defRPr>
            </a:lvl1pPr>
          </a:lstStyle>
          <a:p>
            <a:r>
              <a:rPr lang="en-US"/>
              <a:t>Click to edit Master title style</a:t>
            </a:r>
          </a:p>
        </p:txBody>
      </p:sp>
      <p:sp>
        <p:nvSpPr>
          <p:cNvPr id="3" name="Text Placeholder 2"/>
          <p:cNvSpPr>
            <a:spLocks noGrp="1"/>
          </p:cNvSpPr>
          <p:nvPr>
            <p:ph type="body" idx="1"/>
          </p:nvPr>
        </p:nvSpPr>
        <p:spPr>
          <a:xfrm>
            <a:off x="2695194" y="4352465"/>
            <a:ext cx="6801612" cy="1265082"/>
          </a:xfrm>
        </p:spPr>
        <p:txBody>
          <a:bodyPr anchor="t" anchorCtr="1">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7" name="Date Placeholder 6"/>
          <p:cNvSpPr>
            <a:spLocks noGrp="1"/>
          </p:cNvSpPr>
          <p:nvPr>
            <p:ph type="dt" sz="half" idx="10"/>
          </p:nvPr>
        </p:nvSpPr>
        <p:spPr/>
        <p:txBody>
          <a:bodyPr/>
          <a:lstStyle/>
          <a:p>
            <a:fld id="{A61DFA66-5DDA-1042-89DF-54304151B3DC}" type="datetimeFigureOut">
              <a:rPr lang="en-US" smtClean="0"/>
              <a:t>12/8/2025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A6853A3C-1A8D-A04A-B41F-C1ADA16DB67B}" type="slidenum">
              <a:rPr lang="en-US" smtClean="0"/>
              <a:t>‹#›</a:t>
            </a:fld>
            <a:endParaRPr lang="en-US"/>
          </a:p>
        </p:txBody>
      </p:sp>
    </p:spTree>
    <p:extLst>
      <p:ext uri="{BB962C8B-B14F-4D97-AF65-F5344CB8AC3E}">
        <p14:creationId xmlns:p14="http://schemas.microsoft.com/office/powerpoint/2010/main" val="4187253270"/>
      </p:ext>
    </p:extLst>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1581912" y="2638044"/>
            <a:ext cx="4271771" cy="31019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338315" y="2638044"/>
            <a:ext cx="4270247" cy="31019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Date Placeholder 7"/>
          <p:cNvSpPr>
            <a:spLocks noGrp="1"/>
          </p:cNvSpPr>
          <p:nvPr>
            <p:ph type="dt" sz="half" idx="10"/>
          </p:nvPr>
        </p:nvSpPr>
        <p:spPr/>
        <p:txBody>
          <a:bodyPr/>
          <a:lstStyle/>
          <a:p>
            <a:fld id="{A61DFA66-5DDA-1042-89DF-54304151B3DC}" type="datetimeFigureOut">
              <a:rPr lang="en-US" smtClean="0"/>
              <a:t>12/8/2025</a:t>
            </a:fld>
            <a:endParaRPr lang="en-US"/>
          </a:p>
        </p:txBody>
      </p:sp>
      <p:sp>
        <p:nvSpPr>
          <p:cNvPr id="9" name="Footer Placeholder 8"/>
          <p:cNvSpPr>
            <a:spLocks noGrp="1"/>
          </p:cNvSpPr>
          <p:nvPr>
            <p:ph type="ftr" sz="quarter" idx="11"/>
          </p:nvPr>
        </p:nvSpPr>
        <p:spPr/>
        <p:txBody>
          <a:bodyPr/>
          <a:lstStyle/>
          <a:p>
            <a:endParaRPr lang="en-US"/>
          </a:p>
        </p:txBody>
      </p:sp>
      <p:sp>
        <p:nvSpPr>
          <p:cNvPr id="10" name="Slide Number Placeholder 9"/>
          <p:cNvSpPr>
            <a:spLocks noGrp="1"/>
          </p:cNvSpPr>
          <p:nvPr>
            <p:ph type="sldNum" sz="quarter" idx="12"/>
          </p:nvPr>
        </p:nvSpPr>
        <p:spPr/>
        <p:txBody>
          <a:bodyPr/>
          <a:lstStyle/>
          <a:p>
            <a:fld id="{A6853A3C-1A8D-A04A-B41F-C1ADA16DB67B}" type="slidenum">
              <a:rPr lang="en-US" smtClean="0"/>
              <a:t>‹#›</a:t>
            </a:fld>
            <a:endParaRPr lang="en-US"/>
          </a:p>
        </p:txBody>
      </p:sp>
    </p:spTree>
    <p:extLst>
      <p:ext uri="{BB962C8B-B14F-4D97-AF65-F5344CB8AC3E}">
        <p14:creationId xmlns:p14="http://schemas.microsoft.com/office/powerpoint/2010/main" val="205924143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583436" y="2313433"/>
            <a:ext cx="4270248" cy="704087"/>
          </a:xfrm>
        </p:spPr>
        <p:txBody>
          <a:bodyPr anchor="b" anchorCtr="1">
            <a:normAutofit/>
          </a:bodyPr>
          <a:lstStyle>
            <a:lvl1pPr marL="0" indent="0" algn="ctr">
              <a:buNone/>
              <a:defRPr sz="1900" b="0" cap="all" spc="100" baseline="0">
                <a:solidFill>
                  <a:schemeClr val="accent2">
                    <a:lumMod val="75000"/>
                  </a:schemeClr>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583436" y="3143250"/>
            <a:ext cx="4270248" cy="25967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5"/>
          <p:cNvSpPr>
            <a:spLocks noGrp="1"/>
          </p:cNvSpPr>
          <p:nvPr>
            <p:ph sz="quarter" idx="4"/>
          </p:nvPr>
        </p:nvSpPr>
        <p:spPr>
          <a:xfrm>
            <a:off x="6338316" y="3143250"/>
            <a:ext cx="4253484" cy="2596776"/>
          </a:xfrm>
        </p:spPr>
        <p:txBody>
          <a:bodyPr/>
          <a:lstStyle>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ext Placeholder 4"/>
          <p:cNvSpPr>
            <a:spLocks noGrp="1"/>
          </p:cNvSpPr>
          <p:nvPr>
            <p:ph type="body" sz="quarter" idx="13"/>
          </p:nvPr>
        </p:nvSpPr>
        <p:spPr>
          <a:xfrm>
            <a:off x="6338316" y="2313433"/>
            <a:ext cx="4270248" cy="704087"/>
          </a:xfrm>
        </p:spPr>
        <p:txBody>
          <a:bodyPr anchor="b" anchorCtr="1">
            <a:normAutofit/>
          </a:bodyPr>
          <a:lstStyle>
            <a:lvl1pPr marL="0" indent="0" algn="ctr">
              <a:buNone/>
              <a:defRPr sz="1900" b="0" cap="all" spc="100" baseline="0">
                <a:solidFill>
                  <a:schemeClr val="accent2">
                    <a:lumMod val="75000"/>
                  </a:schemeClr>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7" name="Date Placeholder 6"/>
          <p:cNvSpPr>
            <a:spLocks noGrp="1"/>
          </p:cNvSpPr>
          <p:nvPr>
            <p:ph type="dt" sz="half" idx="10"/>
          </p:nvPr>
        </p:nvSpPr>
        <p:spPr/>
        <p:txBody>
          <a:bodyPr/>
          <a:lstStyle/>
          <a:p>
            <a:fld id="{A61DFA66-5DDA-1042-89DF-54304151B3DC}" type="datetimeFigureOut">
              <a:rPr lang="en-US" smtClean="0"/>
              <a:t>12/8/2025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A6853A3C-1A8D-A04A-B41F-C1ADA16DB67B}" type="slidenum">
              <a:rPr lang="en-US" smtClean="0"/>
              <a:t>‹#›</a:t>
            </a:fld>
            <a:endParaRPr lang="en-US"/>
          </a:p>
        </p:txBody>
      </p:sp>
      <p:sp>
        <p:nvSpPr>
          <p:cNvPr id="10" name="Title 9"/>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4086025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A61DFA66-5DDA-1042-89DF-54304151B3DC}" type="datetimeFigureOut">
              <a:rPr lang="en-US" smtClean="0"/>
              <a:t>12/8/2025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A6853A3C-1A8D-A04A-B41F-C1ADA16DB67B}" type="slidenum">
              <a:rPr lang="en-US" smtClean="0"/>
              <a:t>‹#›</a:t>
            </a:fld>
            <a:endParaRPr lang="en-US"/>
          </a:p>
        </p:txBody>
      </p:sp>
    </p:spTree>
    <p:extLst>
      <p:ext uri="{BB962C8B-B14F-4D97-AF65-F5344CB8AC3E}">
        <p14:creationId xmlns:p14="http://schemas.microsoft.com/office/powerpoint/2010/main" val="362915771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61DFA66-5DDA-1042-89DF-54304151B3DC}" type="datetimeFigureOut">
              <a:rPr lang="en-US" smtClean="0"/>
              <a:t>12/8/2025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A6853A3C-1A8D-A04A-B41F-C1ADA16DB67B}" type="slidenum">
              <a:rPr lang="en-US" smtClean="0"/>
              <a:t>‹#›</a:t>
            </a:fld>
            <a:endParaRPr lang="en-US"/>
          </a:p>
        </p:txBody>
      </p:sp>
    </p:spTree>
    <p:extLst>
      <p:ext uri="{BB962C8B-B14F-4D97-AF65-F5344CB8AC3E}">
        <p14:creationId xmlns:p14="http://schemas.microsoft.com/office/powerpoint/2010/main" val="161915052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6" name="Rectangle 25"/>
          <p:cNvSpPr/>
          <p:nvPr/>
        </p:nvSpPr>
        <p:spPr>
          <a:xfrm>
            <a:off x="0" y="0"/>
            <a:ext cx="6096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p:cNvSpPr>
            <a:spLocks noGrp="1"/>
          </p:cNvSpPr>
          <p:nvPr>
            <p:ph type="title"/>
          </p:nvPr>
        </p:nvSpPr>
        <p:spPr bwMode="blackWhite">
          <a:xfrm>
            <a:off x="804672" y="2243828"/>
            <a:ext cx="4486656" cy="1141497"/>
          </a:xfrm>
          <a:solidFill>
            <a:srgbClr val="FFFFFF"/>
          </a:solidFill>
          <a:ln>
            <a:solidFill>
              <a:srgbClr val="404040"/>
            </a:solidFill>
          </a:ln>
        </p:spPr>
        <p:txBody>
          <a:bodyPr anchor="ctr" anchorCtr="1">
            <a:normAutofit/>
          </a:bodyPr>
          <a:lstStyle>
            <a:lvl1pPr>
              <a:defRPr sz="2200">
                <a:solidFill>
                  <a:srgbClr val="262626"/>
                </a:solidFill>
              </a:defRPr>
            </a:lvl1pPr>
          </a:lstStyle>
          <a:p>
            <a:r>
              <a:rPr lang="en-US"/>
              <a:t>Click to edit Master title style</a:t>
            </a:r>
          </a:p>
        </p:txBody>
      </p:sp>
      <p:sp>
        <p:nvSpPr>
          <p:cNvPr id="3" name="Content Placeholder 2"/>
          <p:cNvSpPr>
            <a:spLocks noGrp="1"/>
          </p:cNvSpPr>
          <p:nvPr>
            <p:ph idx="1"/>
          </p:nvPr>
        </p:nvSpPr>
        <p:spPr>
          <a:xfrm>
            <a:off x="6736080" y="804672"/>
            <a:ext cx="4815840" cy="5248656"/>
          </a:xfrm>
        </p:spPr>
        <p:txBody>
          <a:bodyPr>
            <a:normAutofit/>
          </a:bodyPr>
          <a:lstStyle>
            <a:lvl1pPr>
              <a:defRPr sz="1900">
                <a:solidFill>
                  <a:schemeClr val="tx1"/>
                </a:solidFill>
              </a:defRPr>
            </a:lvl1pPr>
            <a:lvl2pPr>
              <a:defRPr sz="1600">
                <a:solidFill>
                  <a:schemeClr val="tx1"/>
                </a:solidFill>
              </a:defRPr>
            </a:lvl2pPr>
            <a:lvl3pPr>
              <a:defRPr sz="1600">
                <a:solidFill>
                  <a:schemeClr val="tx1"/>
                </a:solidFill>
              </a:defRPr>
            </a:lvl3pPr>
            <a:lvl4pPr>
              <a:defRPr sz="1600">
                <a:solidFill>
                  <a:schemeClr val="tx1"/>
                </a:solidFill>
              </a:defRPr>
            </a:lvl4pPr>
            <a:lvl5pPr>
              <a:defRPr sz="1600">
                <a:solidFill>
                  <a:schemeClr val="tx1"/>
                </a:solidFill>
              </a:defRPr>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1115568" y="3549918"/>
            <a:ext cx="3794760" cy="2194036"/>
          </a:xfrm>
        </p:spPr>
        <p:txBody>
          <a:bodyPr anchor="t" anchorCtr="1">
            <a:normAutofit/>
          </a:bodyPr>
          <a:lstStyle>
            <a:lvl1pPr marL="0" indent="0" algn="ctr">
              <a:buNone/>
              <a:defRPr sz="1500">
                <a:solidFill>
                  <a:srgbClr val="FFFFFF"/>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Date Placeholder 8"/>
          <p:cNvSpPr>
            <a:spLocks noGrp="1"/>
          </p:cNvSpPr>
          <p:nvPr>
            <p:ph type="dt" sz="half" idx="10"/>
          </p:nvPr>
        </p:nvSpPr>
        <p:spPr/>
        <p:txBody>
          <a:bodyPr/>
          <a:lstStyle/>
          <a:p>
            <a:fld id="{A61DFA66-5DDA-1042-89DF-54304151B3DC}" type="datetimeFigureOut">
              <a:rPr lang="en-US" smtClean="0"/>
              <a:t>12/8/2025</a:t>
            </a:fld>
            <a:endParaRPr lang="en-US"/>
          </a:p>
        </p:txBody>
      </p:sp>
      <p:sp>
        <p:nvSpPr>
          <p:cNvPr id="10" name="Footer Placeholder 9"/>
          <p:cNvSpPr>
            <a:spLocks noGrp="1"/>
          </p:cNvSpPr>
          <p:nvPr>
            <p:ph type="ftr" sz="quarter" idx="11"/>
          </p:nvPr>
        </p:nvSpPr>
        <p:spPr>
          <a:xfrm>
            <a:off x="804672" y="6236208"/>
            <a:ext cx="5124797" cy="320040"/>
          </a:xfrm>
        </p:spPr>
        <p:txBody>
          <a:bodyPr/>
          <a:lstStyle>
            <a:lvl1pPr>
              <a:defRPr>
                <a:solidFill>
                  <a:srgbClr val="FFFFFF">
                    <a:alpha val="70000"/>
                  </a:srgbClr>
                </a:solidFill>
              </a:defRPr>
            </a:lvl1pPr>
          </a:lstStyle>
          <a:p>
            <a:endParaRPr lang="en-US"/>
          </a:p>
        </p:txBody>
      </p:sp>
      <p:sp>
        <p:nvSpPr>
          <p:cNvPr id="11" name="Slide Number Placeholder 10"/>
          <p:cNvSpPr>
            <a:spLocks noGrp="1"/>
          </p:cNvSpPr>
          <p:nvPr>
            <p:ph type="sldNum" sz="quarter" idx="12"/>
          </p:nvPr>
        </p:nvSpPr>
        <p:spPr/>
        <p:txBody>
          <a:bodyPr/>
          <a:lstStyle/>
          <a:p>
            <a:fld id="{A6853A3C-1A8D-A04A-B41F-C1ADA16DB67B}" type="slidenum">
              <a:rPr lang="en-US" smtClean="0"/>
              <a:t>‹#›</a:t>
            </a:fld>
            <a:endParaRPr lang="en-US"/>
          </a:p>
        </p:txBody>
      </p:sp>
    </p:spTree>
    <p:extLst>
      <p:ext uri="{BB962C8B-B14F-4D97-AF65-F5344CB8AC3E}">
        <p14:creationId xmlns:p14="http://schemas.microsoft.com/office/powerpoint/2010/main" val="301881292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8" name="Rectangle 17"/>
          <p:cNvSpPr/>
          <p:nvPr/>
        </p:nvSpPr>
        <p:spPr>
          <a:xfrm>
            <a:off x="0" y="0"/>
            <a:ext cx="6095999"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p:cNvSpPr>
            <a:spLocks noGrp="1"/>
          </p:cNvSpPr>
          <p:nvPr>
            <p:ph type="title"/>
          </p:nvPr>
        </p:nvSpPr>
        <p:spPr bwMode="blackWhite">
          <a:xfrm>
            <a:off x="808523" y="2243828"/>
            <a:ext cx="4494998" cy="1134640"/>
          </a:xfrm>
          <a:solidFill>
            <a:srgbClr val="FFFFFF"/>
          </a:solidFill>
          <a:ln>
            <a:solidFill>
              <a:srgbClr val="404040"/>
            </a:solidFill>
          </a:ln>
        </p:spPr>
        <p:txBody>
          <a:bodyPr anchor="ctr" anchorCtr="1">
            <a:noAutofit/>
          </a:bodyPr>
          <a:lstStyle>
            <a:lvl1pPr>
              <a:defRPr sz="2200">
                <a:solidFill>
                  <a:srgbClr val="262626"/>
                </a:solidFill>
              </a:defRPr>
            </a:lvl1pPr>
          </a:lstStyle>
          <a:p>
            <a:r>
              <a:rPr lang="en-US"/>
              <a:t>Click to edit Master title style</a:t>
            </a:r>
          </a:p>
        </p:txBody>
      </p:sp>
      <p:sp>
        <p:nvSpPr>
          <p:cNvPr id="3" name="Picture Placeholder 2"/>
          <p:cNvSpPr>
            <a:spLocks noGrp="1" noChangeAspect="1"/>
          </p:cNvSpPr>
          <p:nvPr>
            <p:ph type="pic" idx="1"/>
          </p:nvPr>
        </p:nvSpPr>
        <p:spPr>
          <a:xfrm>
            <a:off x="6095999" y="0"/>
            <a:ext cx="6102097" cy="6858000"/>
          </a:xfrm>
          <a:solidFill>
            <a:schemeClr val="bg1">
              <a:lumMod val="75000"/>
            </a:schemeClr>
          </a:solidFill>
        </p:spPr>
        <p:txBody>
          <a:bodyPr anchor="t"/>
          <a:lstStyle>
            <a:lvl1pPr marL="0" indent="0">
              <a:buNone/>
              <a:defRPr sz="3200">
                <a:solidFill>
                  <a:schemeClr val="bg1">
                    <a:lumMod val="85000"/>
                    <a:lumOff val="15000"/>
                  </a:schemeClr>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1115568" y="3549918"/>
            <a:ext cx="3794760" cy="2194037"/>
          </a:xfrm>
        </p:spPr>
        <p:txBody>
          <a:bodyPr anchor="t" anchorCtr="1">
            <a:normAutofit/>
          </a:bodyPr>
          <a:lstStyle>
            <a:lvl1pPr marL="0" indent="0" algn="ctr">
              <a:buNone/>
              <a:defRPr sz="1500">
                <a:solidFill>
                  <a:srgbClr val="FFFFFF"/>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8" name="Date Placeholder 7"/>
          <p:cNvSpPr>
            <a:spLocks noGrp="1"/>
          </p:cNvSpPr>
          <p:nvPr>
            <p:ph type="dt" sz="half" idx="10"/>
          </p:nvPr>
        </p:nvSpPr>
        <p:spPr/>
        <p:txBody>
          <a:bodyPr/>
          <a:lstStyle>
            <a:lvl1pPr>
              <a:defRPr>
                <a:solidFill>
                  <a:srgbClr val="FFFFFF"/>
                </a:solidFill>
                <a:effectLst>
                  <a:outerShdw blurRad="50800" dist="38100" dir="2700000" algn="tl" rotWithShape="0">
                    <a:prstClr val="black">
                      <a:alpha val="43000"/>
                    </a:prstClr>
                  </a:outerShdw>
                </a:effectLst>
              </a:defRPr>
            </a:lvl1pPr>
          </a:lstStyle>
          <a:p>
            <a:fld id="{A61DFA66-5DDA-1042-89DF-54304151B3DC}" type="datetimeFigureOut">
              <a:rPr lang="en-US" smtClean="0"/>
              <a:t>12/8/2025</a:t>
            </a:fld>
            <a:endParaRPr lang="en-US"/>
          </a:p>
        </p:txBody>
      </p:sp>
      <p:sp>
        <p:nvSpPr>
          <p:cNvPr id="9" name="Footer Placeholder 8"/>
          <p:cNvSpPr>
            <a:spLocks noGrp="1"/>
          </p:cNvSpPr>
          <p:nvPr>
            <p:ph type="ftr" sz="quarter" idx="11"/>
          </p:nvPr>
        </p:nvSpPr>
        <p:spPr>
          <a:xfrm>
            <a:off x="804672" y="6236208"/>
            <a:ext cx="5124797" cy="320040"/>
          </a:xfrm>
        </p:spPr>
        <p:txBody>
          <a:bodyPr/>
          <a:lstStyle>
            <a:lvl1pPr>
              <a:defRPr>
                <a:solidFill>
                  <a:srgbClr val="FFFFFF">
                    <a:alpha val="70000"/>
                  </a:srgbClr>
                </a:solidFill>
              </a:defRPr>
            </a:lvl1pPr>
          </a:lstStyle>
          <a:p>
            <a:endParaRPr lang="en-US"/>
          </a:p>
        </p:txBody>
      </p:sp>
      <p:sp>
        <p:nvSpPr>
          <p:cNvPr id="10" name="Slide Number Placeholder 9"/>
          <p:cNvSpPr>
            <a:spLocks noGrp="1"/>
          </p:cNvSpPr>
          <p:nvPr>
            <p:ph type="sldNum" sz="quarter" idx="12"/>
          </p:nvPr>
        </p:nvSpPr>
        <p:spPr/>
        <p:txBody>
          <a:bodyPr/>
          <a:lstStyle/>
          <a:p>
            <a:fld id="{A6853A3C-1A8D-A04A-B41F-C1ADA16DB67B}" type="slidenum">
              <a:rPr lang="en-US" smtClean="0"/>
              <a:t>‹#›</a:t>
            </a:fld>
            <a:endParaRPr lang="en-US"/>
          </a:p>
        </p:txBody>
      </p:sp>
    </p:spTree>
    <p:extLst>
      <p:ext uri="{BB962C8B-B14F-4D97-AF65-F5344CB8AC3E}">
        <p14:creationId xmlns:p14="http://schemas.microsoft.com/office/powerpoint/2010/main" val="404739523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A61DFA66-5DDA-1042-89DF-54304151B3DC}" type="datetimeFigureOut">
              <a:rPr lang="en-US" smtClean="0"/>
              <a:t>12/8/2025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6853A3C-1A8D-A04A-B41F-C1ADA16DB67B}" type="slidenum">
              <a:rPr lang="en-US" smtClean="0"/>
              <a:t>‹#›</a:t>
            </a:fld>
            <a:endParaRPr lang="en-US"/>
          </a:p>
        </p:txBody>
      </p:sp>
    </p:spTree>
    <p:extLst>
      <p:ext uri="{BB962C8B-B14F-4D97-AF65-F5344CB8AC3E}">
        <p14:creationId xmlns:p14="http://schemas.microsoft.com/office/powerpoint/2010/main" val="364535474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53112" y="937260"/>
            <a:ext cx="1298608" cy="498348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2231136" y="937260"/>
            <a:ext cx="6198489" cy="498348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A61DFA66-5DDA-1042-89DF-54304151B3DC}" type="datetimeFigureOut">
              <a:rPr lang="en-US" smtClean="0"/>
              <a:t>12/8/2025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6853A3C-1A8D-A04A-B41F-C1ADA16DB67B}" type="slidenum">
              <a:rPr lang="en-US" smtClean="0"/>
              <a:t>‹#›</a:t>
            </a:fld>
            <a:endParaRPr lang="en-US"/>
          </a:p>
        </p:txBody>
      </p:sp>
    </p:spTree>
    <p:extLst>
      <p:ext uri="{BB962C8B-B14F-4D97-AF65-F5344CB8AC3E}">
        <p14:creationId xmlns:p14="http://schemas.microsoft.com/office/powerpoint/2010/main" val="412993767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bwMode="black">
          <a:xfrm>
            <a:off x="2231136" y="964692"/>
            <a:ext cx="7729728" cy="1188720"/>
          </a:xfrm>
          <a:prstGeom prst="rect">
            <a:avLst/>
          </a:prstGeom>
          <a:solidFill>
            <a:srgbClr val="FFFFFF"/>
          </a:solidFill>
          <a:ln w="31750" cap="sq">
            <a:solidFill>
              <a:srgbClr val="404040"/>
            </a:solidFill>
            <a:miter lim="800000"/>
          </a:ln>
        </p:spPr>
        <p:txBody>
          <a:bodyPr vert="horz" lIns="182880" tIns="182880" rIns="182880" bIns="182880" rtlCol="0" anchor="ctr">
            <a:normAutofit/>
          </a:bodyPr>
          <a:lstStyle/>
          <a:p>
            <a:r>
              <a:rPr lang="en-US"/>
              <a:t>Click to edit Master title style</a:t>
            </a:r>
          </a:p>
        </p:txBody>
      </p:sp>
      <p:sp>
        <p:nvSpPr>
          <p:cNvPr id="3" name="Text Placeholder 2"/>
          <p:cNvSpPr>
            <a:spLocks noGrp="1"/>
          </p:cNvSpPr>
          <p:nvPr>
            <p:ph type="body" idx="1"/>
          </p:nvPr>
        </p:nvSpPr>
        <p:spPr>
          <a:xfrm>
            <a:off x="2231136" y="2638044"/>
            <a:ext cx="7729728" cy="310198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7821429" y="6238816"/>
            <a:ext cx="2753746" cy="323968"/>
          </a:xfrm>
          <a:prstGeom prst="rect">
            <a:avLst/>
          </a:prstGeom>
        </p:spPr>
        <p:txBody>
          <a:bodyPr vert="horz" lIns="91440" tIns="45720" rIns="91440" bIns="45720" rtlCol="0" anchor="ctr"/>
          <a:lstStyle>
            <a:lvl1pPr algn="r">
              <a:defRPr sz="1050">
                <a:solidFill>
                  <a:schemeClr val="tx1">
                    <a:alpha val="70000"/>
                  </a:schemeClr>
                </a:solidFill>
              </a:defRPr>
            </a:lvl1pPr>
          </a:lstStyle>
          <a:p>
            <a:fld id="{A61DFA66-5DDA-1042-89DF-54304151B3DC}" type="datetimeFigureOut">
              <a:rPr lang="en-US" smtClean="0"/>
              <a:t>12/8/2025</a:t>
            </a:fld>
            <a:endParaRPr lang="en-US"/>
          </a:p>
        </p:txBody>
      </p:sp>
      <p:sp>
        <p:nvSpPr>
          <p:cNvPr id="5" name="Footer Placeholder 4"/>
          <p:cNvSpPr>
            <a:spLocks noGrp="1"/>
          </p:cNvSpPr>
          <p:nvPr>
            <p:ph type="ftr" sz="quarter" idx="3"/>
          </p:nvPr>
        </p:nvSpPr>
        <p:spPr>
          <a:xfrm>
            <a:off x="1600200" y="6236208"/>
            <a:ext cx="5901189" cy="320040"/>
          </a:xfrm>
          <a:prstGeom prst="rect">
            <a:avLst/>
          </a:prstGeom>
        </p:spPr>
        <p:txBody>
          <a:bodyPr vert="horz" lIns="91440" tIns="45720" rIns="91440" bIns="45720" rtlCol="0" anchor="ctr"/>
          <a:lstStyle>
            <a:lvl1pPr algn="l">
              <a:defRPr sz="1050">
                <a:solidFill>
                  <a:schemeClr val="tx1">
                    <a:alpha val="70000"/>
                  </a:schemeClr>
                </a:solidFill>
              </a:defRPr>
            </a:lvl1pPr>
          </a:lstStyle>
          <a:p>
            <a:endParaRPr lang="en-US"/>
          </a:p>
        </p:txBody>
      </p:sp>
      <p:sp>
        <p:nvSpPr>
          <p:cNvPr id="6" name="Slide Number Placeholder 5"/>
          <p:cNvSpPr>
            <a:spLocks noGrp="1"/>
          </p:cNvSpPr>
          <p:nvPr>
            <p:ph type="sldNum" sz="quarter" idx="4"/>
          </p:nvPr>
        </p:nvSpPr>
        <p:spPr>
          <a:xfrm>
            <a:off x="10758922" y="6217920"/>
            <a:ext cx="365760" cy="365760"/>
          </a:xfrm>
          <a:prstGeom prst="ellipse">
            <a:avLst/>
          </a:prstGeom>
          <a:solidFill>
            <a:srgbClr val="1D1D1D">
              <a:alpha val="70000"/>
            </a:srgbClr>
          </a:solidFill>
        </p:spPr>
        <p:txBody>
          <a:bodyPr vert="horz" lIns="18288" tIns="45720" rIns="18288" bIns="45720" rtlCol="0" anchor="ctr">
            <a:noAutofit/>
          </a:bodyPr>
          <a:lstStyle>
            <a:lvl1pPr algn="ctr">
              <a:defRPr sz="1100" spc="0" baseline="0">
                <a:solidFill>
                  <a:srgbClr val="FFFFFF"/>
                </a:solidFill>
              </a:defRPr>
            </a:lvl1pPr>
          </a:lstStyle>
          <a:p>
            <a:fld id="{A6853A3C-1A8D-A04A-B41F-C1ADA16DB67B}" type="slidenum">
              <a:rPr lang="en-US" smtClean="0"/>
              <a:t>‹#›</a:t>
            </a:fld>
            <a:endParaRPr lang="en-US"/>
          </a:p>
        </p:txBody>
      </p:sp>
    </p:spTree>
    <p:extLst>
      <p:ext uri="{BB962C8B-B14F-4D97-AF65-F5344CB8AC3E}">
        <p14:creationId xmlns:p14="http://schemas.microsoft.com/office/powerpoint/2010/main" val="283913662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ctr" defTabSz="914400" rtl="0" eaLnBrk="1" latinLnBrk="0" hangingPunct="1">
        <a:lnSpc>
          <a:spcPct val="90000"/>
        </a:lnSpc>
        <a:spcBef>
          <a:spcPct val="0"/>
        </a:spcBef>
        <a:buNone/>
        <a:defRPr sz="2800" kern="1200" cap="all" spc="200" baseline="0">
          <a:solidFill>
            <a:srgbClr val="262626"/>
          </a:solidFill>
          <a:latin typeface="+mj-lt"/>
          <a:ea typeface="+mj-ea"/>
          <a:cs typeface="+mj-cs"/>
        </a:defRPr>
      </a:lvl1pPr>
    </p:titleStyle>
    <p:bodyStyle>
      <a:lvl1pPr marL="228600" indent="-228600" algn="l" defTabSz="914400" rtl="0" eaLnBrk="1" latinLnBrk="0" hangingPunct="1">
        <a:lnSpc>
          <a:spcPct val="100000"/>
        </a:lnSpc>
        <a:spcBef>
          <a:spcPts val="1000"/>
        </a:spcBef>
        <a:buClr>
          <a:schemeClr val="accent2"/>
        </a:buClr>
        <a:buFont typeface="Arial" panose="020B0604020202020204" pitchFamily="34" charset="0"/>
        <a:buChar char="•"/>
        <a:defRPr sz="1800" kern="1200">
          <a:solidFill>
            <a:schemeClr val="tx1">
              <a:lumMod val="85000"/>
              <a:lumOff val="15000"/>
            </a:schemeClr>
          </a:solidFill>
          <a:latin typeface="+mn-lt"/>
          <a:ea typeface="+mn-ea"/>
          <a:cs typeface="+mn-cs"/>
        </a:defRPr>
      </a:lvl1pPr>
      <a:lvl2pPr marL="4572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2pPr>
      <a:lvl3pPr marL="6858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3pPr>
      <a:lvl4pPr marL="9144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4pPr>
      <a:lvl5pPr marL="11430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5pPr>
      <a:lvl6pPr marL="131286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6pPr>
      <a:lvl7pPr marL="148431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7pPr>
      <a:lvl8pPr marL="165735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8pPr>
      <a:lvl9pPr marL="1882775"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BB24E-F4AB-06E7-E478-EC872EA583E2}"/>
              </a:ext>
            </a:extLst>
          </p:cNvPr>
          <p:cNvSpPr>
            <a:spLocks noGrp="1"/>
          </p:cNvSpPr>
          <p:nvPr>
            <p:ph type="ctrTitle"/>
          </p:nvPr>
        </p:nvSpPr>
        <p:spPr>
          <a:xfrm>
            <a:off x="1194237" y="925926"/>
            <a:ext cx="9803525" cy="1859315"/>
          </a:xfrm>
        </p:spPr>
        <p:txBody>
          <a:bodyPr>
            <a:normAutofit fontScale="90000"/>
          </a:bodyPr>
          <a:lstStyle/>
          <a:p>
            <a:r>
              <a:rPr lang="en-US"/>
              <a:t>Early Detection of Mental Health Crises Using A Transformer Architecture</a:t>
            </a:r>
          </a:p>
        </p:txBody>
      </p:sp>
      <p:sp>
        <p:nvSpPr>
          <p:cNvPr id="4" name="TextBox 3">
            <a:extLst>
              <a:ext uri="{FF2B5EF4-FFF2-40B4-BE49-F238E27FC236}">
                <a16:creationId xmlns:a16="http://schemas.microsoft.com/office/drawing/2014/main" id="{BF858860-1681-1C4F-0776-B13599987DD5}"/>
              </a:ext>
            </a:extLst>
          </p:cNvPr>
          <p:cNvSpPr txBox="1"/>
          <p:nvPr/>
        </p:nvSpPr>
        <p:spPr>
          <a:xfrm>
            <a:off x="0" y="-1"/>
            <a:ext cx="5013433" cy="523220"/>
          </a:xfrm>
          <a:prstGeom prst="rect">
            <a:avLst/>
          </a:prstGeom>
          <a:noFill/>
        </p:spPr>
        <p:txBody>
          <a:bodyPr wrap="square" rtlCol="0">
            <a:spAutoFit/>
          </a:bodyPr>
          <a:lstStyle/>
          <a:p>
            <a:r>
              <a:rPr lang="en-US" sz="2800"/>
              <a:t>CSC 396 Programming Project</a:t>
            </a:r>
          </a:p>
        </p:txBody>
      </p:sp>
      <p:sp>
        <p:nvSpPr>
          <p:cNvPr id="5" name="TextBox 4">
            <a:extLst>
              <a:ext uri="{FF2B5EF4-FFF2-40B4-BE49-F238E27FC236}">
                <a16:creationId xmlns:a16="http://schemas.microsoft.com/office/drawing/2014/main" id="{4CC39CCD-602B-744A-92C1-9DB5D33FFCFB}"/>
              </a:ext>
            </a:extLst>
          </p:cNvPr>
          <p:cNvSpPr txBox="1"/>
          <p:nvPr/>
        </p:nvSpPr>
        <p:spPr>
          <a:xfrm>
            <a:off x="10089931" y="-1"/>
            <a:ext cx="2102069" cy="523220"/>
          </a:xfrm>
          <a:prstGeom prst="rect">
            <a:avLst/>
          </a:prstGeom>
          <a:noFill/>
        </p:spPr>
        <p:txBody>
          <a:bodyPr wrap="square" rtlCol="0">
            <a:spAutoFit/>
          </a:bodyPr>
          <a:lstStyle/>
          <a:p>
            <a:pPr algn="r"/>
            <a:r>
              <a:rPr lang="en-US" sz="2800"/>
              <a:t>FALL 2025</a:t>
            </a:r>
          </a:p>
        </p:txBody>
      </p:sp>
      <p:sp>
        <p:nvSpPr>
          <p:cNvPr id="6" name="Title 1">
            <a:extLst>
              <a:ext uri="{FF2B5EF4-FFF2-40B4-BE49-F238E27FC236}">
                <a16:creationId xmlns:a16="http://schemas.microsoft.com/office/drawing/2014/main" id="{364C1485-DFEE-01BB-9CF2-858138BDE4BD}"/>
              </a:ext>
            </a:extLst>
          </p:cNvPr>
          <p:cNvSpPr txBox="1">
            <a:spLocks/>
          </p:cNvSpPr>
          <p:nvPr/>
        </p:nvSpPr>
        <p:spPr bwMode="blackWhite">
          <a:xfrm>
            <a:off x="2113891" y="2890016"/>
            <a:ext cx="7976040" cy="523220"/>
          </a:xfrm>
          <a:prstGeom prst="rect">
            <a:avLst/>
          </a:prstGeom>
          <a:solidFill>
            <a:srgbClr val="FFFFFF"/>
          </a:solidFill>
          <a:ln w="38100" cap="sq">
            <a:solidFill>
              <a:srgbClr val="404040"/>
            </a:solidFill>
            <a:miter lim="800000"/>
          </a:ln>
        </p:spPr>
        <p:txBody>
          <a:bodyPr vert="horz" lIns="274320" tIns="182880" rIns="274320" bIns="182880" rtlCol="0" anchor="ctr" anchorCtr="1">
            <a:normAutofit fontScale="60000" lnSpcReduction="20000"/>
          </a:bodyPr>
          <a:lstStyle>
            <a:lvl1pPr algn="ctr" defTabSz="914400" rtl="0" eaLnBrk="1" latinLnBrk="0" hangingPunct="1">
              <a:lnSpc>
                <a:spcPct val="90000"/>
              </a:lnSpc>
              <a:spcBef>
                <a:spcPct val="0"/>
              </a:spcBef>
              <a:buNone/>
              <a:defRPr sz="3800" kern="1200" cap="all" spc="200" baseline="0">
                <a:solidFill>
                  <a:srgbClr val="262626"/>
                </a:solidFill>
                <a:latin typeface="+mj-lt"/>
                <a:ea typeface="+mj-ea"/>
                <a:cs typeface="+mj-cs"/>
              </a:defRPr>
            </a:lvl1pPr>
          </a:lstStyle>
          <a:p>
            <a:r>
              <a:rPr lang="en-US" sz="2400" err="1"/>
              <a:t>Haocheng</a:t>
            </a:r>
            <a:r>
              <a:rPr lang="en-US" sz="2400"/>
              <a:t> Cao, Kyle Dervin, Rena Wang</a:t>
            </a:r>
          </a:p>
        </p:txBody>
      </p:sp>
      <p:pic>
        <p:nvPicPr>
          <p:cNvPr id="1026" name="Picture 2" descr="Mental Health Overview – Reach">
            <a:extLst>
              <a:ext uri="{FF2B5EF4-FFF2-40B4-BE49-F238E27FC236}">
                <a16:creationId xmlns:a16="http://schemas.microsoft.com/office/drawing/2014/main" id="{7E3A0481-80E5-0CA7-6BFC-88BED6CB21BB}"/>
              </a:ext>
            </a:extLst>
          </p:cNvPr>
          <p:cNvPicPr>
            <a:picLocks noChangeAspect="1" noChangeArrowheads="1"/>
          </p:cNvPicPr>
          <p:nvPr/>
        </p:nvPicPr>
        <p:blipFill rotWithShape="1">
          <a:blip r:embed="rId2">
            <a:extLst>
              <a:ext uri="{BEBA8EAE-BF5A-486C-A8C5-ECC9F3942E4B}">
                <a14:imgProps xmlns:a14="http://schemas.microsoft.com/office/drawing/2010/main">
                  <a14:imgLayer r:embed="rId3">
                    <a14:imgEffect>
                      <a14:backgroundRemoval t="13022" b="90336" l="9774" r="87970"/>
                    </a14:imgEffect>
                  </a14:imgLayer>
                </a14:imgProps>
              </a:ext>
              <a:ext uri="{28A0092B-C50C-407E-A947-70E740481C1C}">
                <a14:useLocalDpi xmlns:a14="http://schemas.microsoft.com/office/drawing/2010/main" val="0"/>
              </a:ext>
            </a:extLst>
          </a:blip>
          <a:srcRect t="3357" r="2256"/>
          <a:stretch>
            <a:fillRect/>
          </a:stretch>
        </p:blipFill>
        <p:spPr bwMode="auto">
          <a:xfrm>
            <a:off x="1431324" y="3707026"/>
            <a:ext cx="3708252" cy="2989476"/>
          </a:xfrm>
          <a:prstGeom prst="rect">
            <a:avLst/>
          </a:prstGeom>
          <a:noFill/>
          <a:extLst>
            <a:ext uri="{909E8E84-426E-40DD-AFC4-6F175D3DCCD1}">
              <a14:hiddenFill xmlns:a14="http://schemas.microsoft.com/office/drawing/2010/main">
                <a:solidFill>
                  <a:srgbClr val="FFFFFF"/>
                </a:solidFill>
              </a14:hiddenFill>
            </a:ext>
          </a:extLst>
        </p:spPr>
      </p:pic>
      <p:grpSp>
        <p:nvGrpSpPr>
          <p:cNvPr id="53" name="Google Shape;1923;p45">
            <a:extLst>
              <a:ext uri="{FF2B5EF4-FFF2-40B4-BE49-F238E27FC236}">
                <a16:creationId xmlns:a16="http://schemas.microsoft.com/office/drawing/2014/main" id="{915B3396-DB23-DCAC-8074-D548D4BFF1C0}"/>
              </a:ext>
            </a:extLst>
          </p:cNvPr>
          <p:cNvGrpSpPr/>
          <p:nvPr/>
        </p:nvGrpSpPr>
        <p:grpSpPr>
          <a:xfrm>
            <a:off x="6809912" y="4139514"/>
            <a:ext cx="1481472" cy="1124464"/>
            <a:chOff x="6843044" y="1276653"/>
            <a:chExt cx="1258500" cy="902350"/>
          </a:xfrm>
        </p:grpSpPr>
        <p:sp>
          <p:nvSpPr>
            <p:cNvPr id="54" name="Google Shape;1924;p45">
              <a:extLst>
                <a:ext uri="{FF2B5EF4-FFF2-40B4-BE49-F238E27FC236}">
                  <a16:creationId xmlns:a16="http://schemas.microsoft.com/office/drawing/2014/main" id="{A3C25CD8-856D-DD87-80E3-ACD2E35A5187}"/>
                </a:ext>
              </a:extLst>
            </p:cNvPr>
            <p:cNvSpPr/>
            <p:nvPr/>
          </p:nvSpPr>
          <p:spPr>
            <a:xfrm>
              <a:off x="6864094" y="1276653"/>
              <a:ext cx="411300" cy="81600"/>
            </a:xfrm>
            <a:prstGeom prst="round2SameRect">
              <a:avLst>
                <a:gd name="adj1" fmla="val 50000"/>
                <a:gd name="adj2" fmla="val 0"/>
              </a:avLst>
            </a:prstGeom>
            <a:solidFill>
              <a:srgbClr val="B7B7B7"/>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5" name="Google Shape;1925;p45">
              <a:extLst>
                <a:ext uri="{FF2B5EF4-FFF2-40B4-BE49-F238E27FC236}">
                  <a16:creationId xmlns:a16="http://schemas.microsoft.com/office/drawing/2014/main" id="{B248BB6E-FC88-9459-8841-0E6AFE3F2AE9}"/>
                </a:ext>
              </a:extLst>
            </p:cNvPr>
            <p:cNvSpPr/>
            <p:nvPr/>
          </p:nvSpPr>
          <p:spPr>
            <a:xfrm>
              <a:off x="6843044" y="1352203"/>
              <a:ext cx="1258500" cy="826800"/>
            </a:xfrm>
            <a:prstGeom prst="roundRect">
              <a:avLst>
                <a:gd name="adj" fmla="val 5261"/>
              </a:avLst>
            </a:prstGeom>
            <a:solidFill>
              <a:srgbClr val="F3F3F3"/>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200">
                <a:solidFill>
                  <a:schemeClr val="bg1"/>
                </a:solidFill>
                <a:latin typeface="Lexend ExtraLight"/>
                <a:ea typeface="Lexend ExtraLight"/>
                <a:cs typeface="Lexend ExtraLight"/>
                <a:sym typeface="Lexend ExtraLight"/>
              </a:endParaRPr>
            </a:p>
          </p:txBody>
        </p:sp>
        <p:cxnSp>
          <p:nvCxnSpPr>
            <p:cNvPr id="56" name="Google Shape;1926;p45">
              <a:extLst>
                <a:ext uri="{FF2B5EF4-FFF2-40B4-BE49-F238E27FC236}">
                  <a16:creationId xmlns:a16="http://schemas.microsoft.com/office/drawing/2014/main" id="{72E88A60-E0FC-F7B0-3AF9-874AAEB51C65}"/>
                </a:ext>
              </a:extLst>
            </p:cNvPr>
            <p:cNvCxnSpPr/>
            <p:nvPr/>
          </p:nvCxnSpPr>
          <p:spPr>
            <a:xfrm>
              <a:off x="6843884" y="2125428"/>
              <a:ext cx="1256700" cy="0"/>
            </a:xfrm>
            <a:prstGeom prst="straightConnector1">
              <a:avLst/>
            </a:prstGeom>
            <a:noFill/>
            <a:ln w="9525" cap="flat" cmpd="sng">
              <a:solidFill>
                <a:schemeClr val="lt1"/>
              </a:solidFill>
              <a:prstDash val="solid"/>
              <a:round/>
              <a:headEnd type="none" w="med" len="med"/>
              <a:tailEnd type="none" w="med" len="med"/>
            </a:ln>
            <a:effectLst>
              <a:outerShdw blurRad="57150" dist="19050" dir="5400000" algn="bl" rotWithShape="0">
                <a:srgbClr val="000000">
                  <a:alpha val="30000"/>
                </a:srgbClr>
              </a:outerShdw>
            </a:effectLst>
          </p:spPr>
        </p:cxnSp>
      </p:grpSp>
      <p:grpSp>
        <p:nvGrpSpPr>
          <p:cNvPr id="57" name="Google Shape;1923;p45">
            <a:extLst>
              <a:ext uri="{FF2B5EF4-FFF2-40B4-BE49-F238E27FC236}">
                <a16:creationId xmlns:a16="http://schemas.microsoft.com/office/drawing/2014/main" id="{EF941075-4407-52F0-152C-092286E530EF}"/>
              </a:ext>
            </a:extLst>
          </p:cNvPr>
          <p:cNvGrpSpPr/>
          <p:nvPr/>
        </p:nvGrpSpPr>
        <p:grpSpPr>
          <a:xfrm>
            <a:off x="6962312" y="4291914"/>
            <a:ext cx="1481472" cy="1124464"/>
            <a:chOff x="6843044" y="1276653"/>
            <a:chExt cx="1258500" cy="902350"/>
          </a:xfrm>
        </p:grpSpPr>
        <p:sp>
          <p:nvSpPr>
            <p:cNvPr id="58" name="Google Shape;1924;p45">
              <a:extLst>
                <a:ext uri="{FF2B5EF4-FFF2-40B4-BE49-F238E27FC236}">
                  <a16:creationId xmlns:a16="http://schemas.microsoft.com/office/drawing/2014/main" id="{983F405B-EF47-56D8-79B9-F93A53E1838B}"/>
                </a:ext>
              </a:extLst>
            </p:cNvPr>
            <p:cNvSpPr/>
            <p:nvPr/>
          </p:nvSpPr>
          <p:spPr>
            <a:xfrm>
              <a:off x="6864094" y="1276653"/>
              <a:ext cx="411300" cy="81600"/>
            </a:xfrm>
            <a:prstGeom prst="round2SameRect">
              <a:avLst>
                <a:gd name="adj1" fmla="val 50000"/>
                <a:gd name="adj2" fmla="val 0"/>
              </a:avLst>
            </a:prstGeom>
            <a:solidFill>
              <a:srgbClr val="B7B7B7"/>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9" name="Google Shape;1925;p45">
              <a:extLst>
                <a:ext uri="{FF2B5EF4-FFF2-40B4-BE49-F238E27FC236}">
                  <a16:creationId xmlns:a16="http://schemas.microsoft.com/office/drawing/2014/main" id="{4BED8BFB-1A4A-2AAE-D6F8-4CFC040C14C2}"/>
                </a:ext>
              </a:extLst>
            </p:cNvPr>
            <p:cNvSpPr/>
            <p:nvPr/>
          </p:nvSpPr>
          <p:spPr>
            <a:xfrm>
              <a:off x="6843044" y="1352203"/>
              <a:ext cx="1258500" cy="826800"/>
            </a:xfrm>
            <a:prstGeom prst="roundRect">
              <a:avLst>
                <a:gd name="adj" fmla="val 5261"/>
              </a:avLst>
            </a:prstGeom>
            <a:solidFill>
              <a:srgbClr val="F3F3F3"/>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200">
                <a:solidFill>
                  <a:schemeClr val="bg1"/>
                </a:solidFill>
                <a:latin typeface="Lexend ExtraLight"/>
                <a:ea typeface="Lexend ExtraLight"/>
                <a:cs typeface="Lexend ExtraLight"/>
                <a:sym typeface="Lexend ExtraLight"/>
              </a:endParaRPr>
            </a:p>
          </p:txBody>
        </p:sp>
        <p:cxnSp>
          <p:nvCxnSpPr>
            <p:cNvPr id="60" name="Google Shape;1926;p45">
              <a:extLst>
                <a:ext uri="{FF2B5EF4-FFF2-40B4-BE49-F238E27FC236}">
                  <a16:creationId xmlns:a16="http://schemas.microsoft.com/office/drawing/2014/main" id="{FE317B4A-9EBA-8FD0-5B1B-C103F8DFD773}"/>
                </a:ext>
              </a:extLst>
            </p:cNvPr>
            <p:cNvCxnSpPr/>
            <p:nvPr/>
          </p:nvCxnSpPr>
          <p:spPr>
            <a:xfrm>
              <a:off x="6843884" y="2125428"/>
              <a:ext cx="1256700" cy="0"/>
            </a:xfrm>
            <a:prstGeom prst="straightConnector1">
              <a:avLst/>
            </a:prstGeom>
            <a:noFill/>
            <a:ln w="9525" cap="flat" cmpd="sng">
              <a:solidFill>
                <a:schemeClr val="lt1"/>
              </a:solidFill>
              <a:prstDash val="solid"/>
              <a:round/>
              <a:headEnd type="none" w="med" len="med"/>
              <a:tailEnd type="none" w="med" len="med"/>
            </a:ln>
            <a:effectLst>
              <a:outerShdw blurRad="57150" dist="19050" dir="5400000" algn="bl" rotWithShape="0">
                <a:srgbClr val="000000">
                  <a:alpha val="30000"/>
                </a:srgbClr>
              </a:outerShdw>
            </a:effectLst>
          </p:spPr>
        </p:cxnSp>
      </p:grpSp>
      <p:grpSp>
        <p:nvGrpSpPr>
          <p:cNvPr id="61" name="Google Shape;1923;p45">
            <a:extLst>
              <a:ext uri="{FF2B5EF4-FFF2-40B4-BE49-F238E27FC236}">
                <a16:creationId xmlns:a16="http://schemas.microsoft.com/office/drawing/2014/main" id="{D758FAD3-3723-ED33-3658-898B7A8EB472}"/>
              </a:ext>
            </a:extLst>
          </p:cNvPr>
          <p:cNvGrpSpPr/>
          <p:nvPr/>
        </p:nvGrpSpPr>
        <p:grpSpPr>
          <a:xfrm>
            <a:off x="7114712" y="4444314"/>
            <a:ext cx="1481472" cy="1124464"/>
            <a:chOff x="6843044" y="1276653"/>
            <a:chExt cx="1258500" cy="902350"/>
          </a:xfrm>
        </p:grpSpPr>
        <p:sp>
          <p:nvSpPr>
            <p:cNvPr id="62" name="Google Shape;1924;p45">
              <a:extLst>
                <a:ext uri="{FF2B5EF4-FFF2-40B4-BE49-F238E27FC236}">
                  <a16:creationId xmlns:a16="http://schemas.microsoft.com/office/drawing/2014/main" id="{FF236E0D-5942-FB5B-DDC1-304D8CD8E651}"/>
                </a:ext>
              </a:extLst>
            </p:cNvPr>
            <p:cNvSpPr/>
            <p:nvPr/>
          </p:nvSpPr>
          <p:spPr>
            <a:xfrm>
              <a:off x="6864094" y="1276653"/>
              <a:ext cx="411300" cy="81600"/>
            </a:xfrm>
            <a:prstGeom prst="round2SameRect">
              <a:avLst>
                <a:gd name="adj1" fmla="val 50000"/>
                <a:gd name="adj2" fmla="val 0"/>
              </a:avLst>
            </a:prstGeom>
            <a:solidFill>
              <a:srgbClr val="B7B7B7"/>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63" name="Google Shape;1925;p45">
              <a:extLst>
                <a:ext uri="{FF2B5EF4-FFF2-40B4-BE49-F238E27FC236}">
                  <a16:creationId xmlns:a16="http://schemas.microsoft.com/office/drawing/2014/main" id="{78844785-1000-0EC7-D240-D92F34A73251}"/>
                </a:ext>
              </a:extLst>
            </p:cNvPr>
            <p:cNvSpPr/>
            <p:nvPr/>
          </p:nvSpPr>
          <p:spPr>
            <a:xfrm>
              <a:off x="6843044" y="1352203"/>
              <a:ext cx="1258500" cy="826800"/>
            </a:xfrm>
            <a:prstGeom prst="roundRect">
              <a:avLst>
                <a:gd name="adj" fmla="val 5261"/>
              </a:avLst>
            </a:prstGeom>
            <a:solidFill>
              <a:srgbClr val="F3F3F3"/>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200">
                <a:solidFill>
                  <a:schemeClr val="bg1"/>
                </a:solidFill>
                <a:latin typeface="Lexend ExtraLight"/>
                <a:ea typeface="Lexend ExtraLight"/>
                <a:cs typeface="Lexend ExtraLight"/>
                <a:sym typeface="Lexend ExtraLight"/>
              </a:endParaRPr>
            </a:p>
          </p:txBody>
        </p:sp>
        <p:cxnSp>
          <p:nvCxnSpPr>
            <p:cNvPr id="1024" name="Google Shape;1926;p45">
              <a:extLst>
                <a:ext uri="{FF2B5EF4-FFF2-40B4-BE49-F238E27FC236}">
                  <a16:creationId xmlns:a16="http://schemas.microsoft.com/office/drawing/2014/main" id="{07EB5E3B-DF4B-C07C-226A-FC0C4C88C47B}"/>
                </a:ext>
              </a:extLst>
            </p:cNvPr>
            <p:cNvCxnSpPr/>
            <p:nvPr/>
          </p:nvCxnSpPr>
          <p:spPr>
            <a:xfrm>
              <a:off x="6843884" y="2125428"/>
              <a:ext cx="1256700" cy="0"/>
            </a:xfrm>
            <a:prstGeom prst="straightConnector1">
              <a:avLst/>
            </a:prstGeom>
            <a:noFill/>
            <a:ln w="9525" cap="flat" cmpd="sng">
              <a:solidFill>
                <a:schemeClr val="lt1"/>
              </a:solidFill>
              <a:prstDash val="solid"/>
              <a:round/>
              <a:headEnd type="none" w="med" len="med"/>
              <a:tailEnd type="none" w="med" len="med"/>
            </a:ln>
            <a:effectLst>
              <a:outerShdw blurRad="57150" dist="19050" dir="5400000" algn="bl" rotWithShape="0">
                <a:srgbClr val="000000">
                  <a:alpha val="30000"/>
                </a:srgbClr>
              </a:outerShdw>
            </a:effectLst>
          </p:spPr>
        </p:cxnSp>
      </p:grpSp>
      <p:grpSp>
        <p:nvGrpSpPr>
          <p:cNvPr id="1025" name="Google Shape;1923;p45">
            <a:extLst>
              <a:ext uri="{FF2B5EF4-FFF2-40B4-BE49-F238E27FC236}">
                <a16:creationId xmlns:a16="http://schemas.microsoft.com/office/drawing/2014/main" id="{61EF96A7-40B6-7B60-4A9D-4385680823B0}"/>
              </a:ext>
            </a:extLst>
          </p:cNvPr>
          <p:cNvGrpSpPr/>
          <p:nvPr/>
        </p:nvGrpSpPr>
        <p:grpSpPr>
          <a:xfrm>
            <a:off x="7267112" y="4596714"/>
            <a:ext cx="1481472" cy="1124464"/>
            <a:chOff x="6843044" y="1276653"/>
            <a:chExt cx="1258500" cy="902350"/>
          </a:xfrm>
        </p:grpSpPr>
        <p:sp>
          <p:nvSpPr>
            <p:cNvPr id="1027" name="Google Shape;1924;p45">
              <a:extLst>
                <a:ext uri="{FF2B5EF4-FFF2-40B4-BE49-F238E27FC236}">
                  <a16:creationId xmlns:a16="http://schemas.microsoft.com/office/drawing/2014/main" id="{D0C105A2-314E-C227-ECE9-0593C3E2E742}"/>
                </a:ext>
              </a:extLst>
            </p:cNvPr>
            <p:cNvSpPr/>
            <p:nvPr/>
          </p:nvSpPr>
          <p:spPr>
            <a:xfrm>
              <a:off x="6864094" y="1276653"/>
              <a:ext cx="411300" cy="81600"/>
            </a:xfrm>
            <a:prstGeom prst="round2SameRect">
              <a:avLst>
                <a:gd name="adj1" fmla="val 50000"/>
                <a:gd name="adj2" fmla="val 0"/>
              </a:avLst>
            </a:prstGeom>
            <a:solidFill>
              <a:srgbClr val="B7B7B7"/>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029" name="Google Shape;1925;p45">
              <a:extLst>
                <a:ext uri="{FF2B5EF4-FFF2-40B4-BE49-F238E27FC236}">
                  <a16:creationId xmlns:a16="http://schemas.microsoft.com/office/drawing/2014/main" id="{2E51D778-0B53-42DE-1309-F4A0D8B90204}"/>
                </a:ext>
              </a:extLst>
            </p:cNvPr>
            <p:cNvSpPr/>
            <p:nvPr/>
          </p:nvSpPr>
          <p:spPr>
            <a:xfrm>
              <a:off x="6843044" y="1352203"/>
              <a:ext cx="1258500" cy="826800"/>
            </a:xfrm>
            <a:prstGeom prst="roundRect">
              <a:avLst>
                <a:gd name="adj" fmla="val 5261"/>
              </a:avLst>
            </a:prstGeom>
            <a:solidFill>
              <a:srgbClr val="F3F3F3"/>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200">
                <a:solidFill>
                  <a:schemeClr val="bg1"/>
                </a:solidFill>
                <a:latin typeface="Lexend ExtraLight"/>
                <a:ea typeface="Lexend ExtraLight"/>
                <a:cs typeface="Lexend ExtraLight"/>
                <a:sym typeface="Lexend ExtraLight"/>
              </a:endParaRPr>
            </a:p>
          </p:txBody>
        </p:sp>
        <p:cxnSp>
          <p:nvCxnSpPr>
            <p:cNvPr id="1031" name="Google Shape;1926;p45">
              <a:extLst>
                <a:ext uri="{FF2B5EF4-FFF2-40B4-BE49-F238E27FC236}">
                  <a16:creationId xmlns:a16="http://schemas.microsoft.com/office/drawing/2014/main" id="{8EAA828F-77CB-56CC-1D0A-D76E985435E6}"/>
                </a:ext>
              </a:extLst>
            </p:cNvPr>
            <p:cNvCxnSpPr/>
            <p:nvPr/>
          </p:nvCxnSpPr>
          <p:spPr>
            <a:xfrm>
              <a:off x="6843884" y="2125428"/>
              <a:ext cx="1256700" cy="0"/>
            </a:xfrm>
            <a:prstGeom prst="straightConnector1">
              <a:avLst/>
            </a:prstGeom>
            <a:noFill/>
            <a:ln w="9525" cap="flat" cmpd="sng">
              <a:solidFill>
                <a:schemeClr val="lt1"/>
              </a:solidFill>
              <a:prstDash val="solid"/>
              <a:round/>
              <a:headEnd type="none" w="med" len="med"/>
              <a:tailEnd type="none" w="med" len="med"/>
            </a:ln>
            <a:effectLst>
              <a:outerShdw blurRad="57150" dist="19050" dir="5400000" algn="bl" rotWithShape="0">
                <a:srgbClr val="000000">
                  <a:alpha val="30000"/>
                </a:srgbClr>
              </a:outerShdw>
            </a:effectLst>
          </p:spPr>
        </p:cxnSp>
      </p:grpSp>
      <p:cxnSp>
        <p:nvCxnSpPr>
          <p:cNvPr id="1034" name="Straight Arrow Connector 1033">
            <a:extLst>
              <a:ext uri="{FF2B5EF4-FFF2-40B4-BE49-F238E27FC236}">
                <a16:creationId xmlns:a16="http://schemas.microsoft.com/office/drawing/2014/main" id="{63823164-95E6-7896-2895-AB8C81A77C2A}"/>
              </a:ext>
            </a:extLst>
          </p:cNvPr>
          <p:cNvCxnSpPr>
            <a:cxnSpLocks/>
          </p:cNvCxnSpPr>
          <p:nvPr/>
        </p:nvCxnSpPr>
        <p:spPr>
          <a:xfrm flipV="1">
            <a:off x="9046863" y="4393600"/>
            <a:ext cx="704335" cy="523220"/>
          </a:xfrm>
          <a:prstGeom prst="straightConnector1">
            <a:avLst/>
          </a:prstGeom>
          <a:ln w="44450" cap="flat" cmpd="sng" algn="ctr">
            <a:solidFill>
              <a:schemeClr val="tx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036" name="Straight Arrow Connector 1035">
            <a:extLst>
              <a:ext uri="{FF2B5EF4-FFF2-40B4-BE49-F238E27FC236}">
                <a16:creationId xmlns:a16="http://schemas.microsoft.com/office/drawing/2014/main" id="{362380B0-E307-0F46-6418-DB4B46412AAB}"/>
              </a:ext>
            </a:extLst>
          </p:cNvPr>
          <p:cNvCxnSpPr>
            <a:cxnSpLocks/>
          </p:cNvCxnSpPr>
          <p:nvPr/>
        </p:nvCxnSpPr>
        <p:spPr>
          <a:xfrm flipV="1">
            <a:off x="9111506" y="4916820"/>
            <a:ext cx="1002614" cy="15601"/>
          </a:xfrm>
          <a:prstGeom prst="straightConnector1">
            <a:avLst/>
          </a:prstGeom>
          <a:ln w="44450" cap="flat" cmpd="sng" algn="ctr">
            <a:solidFill>
              <a:schemeClr val="tx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038" name="Straight Arrow Connector 1037">
            <a:extLst>
              <a:ext uri="{FF2B5EF4-FFF2-40B4-BE49-F238E27FC236}">
                <a16:creationId xmlns:a16="http://schemas.microsoft.com/office/drawing/2014/main" id="{CD9FE6A4-C323-BA2F-1B13-0CC774E88EB2}"/>
              </a:ext>
            </a:extLst>
          </p:cNvPr>
          <p:cNvCxnSpPr>
            <a:cxnSpLocks/>
          </p:cNvCxnSpPr>
          <p:nvPr/>
        </p:nvCxnSpPr>
        <p:spPr>
          <a:xfrm>
            <a:off x="9046863" y="5002457"/>
            <a:ext cx="704335" cy="453184"/>
          </a:xfrm>
          <a:prstGeom prst="straightConnector1">
            <a:avLst/>
          </a:prstGeom>
          <a:ln w="44450" cap="flat" cmpd="sng" algn="ctr">
            <a:solidFill>
              <a:schemeClr val="tx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Tree>
    <p:extLst>
      <p:ext uri="{BB962C8B-B14F-4D97-AF65-F5344CB8AC3E}">
        <p14:creationId xmlns:p14="http://schemas.microsoft.com/office/powerpoint/2010/main" val="170507244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651C87-C692-37E2-6118-67560695D22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746CF16-59E1-A9D4-02A7-E0E5368B02D3}"/>
              </a:ext>
            </a:extLst>
          </p:cNvPr>
          <p:cNvSpPr>
            <a:spLocks noGrp="1"/>
          </p:cNvSpPr>
          <p:nvPr>
            <p:ph type="title"/>
          </p:nvPr>
        </p:nvSpPr>
        <p:spPr/>
        <p:txBody>
          <a:bodyPr/>
          <a:lstStyle/>
          <a:p>
            <a:r>
              <a:rPr lang="en-US"/>
              <a:t>Problem &amp; Motivation</a:t>
            </a:r>
          </a:p>
        </p:txBody>
      </p:sp>
      <p:sp>
        <p:nvSpPr>
          <p:cNvPr id="3" name="Content Placeholder 2">
            <a:extLst>
              <a:ext uri="{FF2B5EF4-FFF2-40B4-BE49-F238E27FC236}">
                <a16:creationId xmlns:a16="http://schemas.microsoft.com/office/drawing/2014/main" id="{1FAEE78C-96E1-5D83-7FE9-F062F0DBA641}"/>
              </a:ext>
            </a:extLst>
          </p:cNvPr>
          <p:cNvSpPr>
            <a:spLocks noGrp="1"/>
          </p:cNvSpPr>
          <p:nvPr>
            <p:ph idx="1"/>
          </p:nvPr>
        </p:nvSpPr>
        <p:spPr>
          <a:xfrm>
            <a:off x="871927" y="2473377"/>
            <a:ext cx="10448145" cy="3942413"/>
          </a:xfrm>
        </p:spPr>
        <p:txBody>
          <a:bodyPr>
            <a:noAutofit/>
          </a:bodyPr>
          <a:lstStyle/>
          <a:p>
            <a:r>
              <a:rPr lang="en-US" sz="2400" b="1"/>
              <a:t>Problem</a:t>
            </a:r>
            <a:r>
              <a:rPr lang="en-US" sz="2400"/>
              <a:t>: Online posts often contain signals of emotional distress, depression, or suicidal intent that are hard to detect at scale</a:t>
            </a:r>
          </a:p>
          <a:p>
            <a:r>
              <a:rPr lang="en-US" sz="2400" b="1"/>
              <a:t>High-impact context</a:t>
            </a:r>
            <a:r>
              <a:rPr lang="en-US" sz="2400"/>
              <a:t>: Platforms like Reddit serve as informal support spaces where users, and especially teens, express mental health struggles that may not be recognizable in-person</a:t>
            </a:r>
          </a:p>
          <a:p>
            <a:r>
              <a:rPr lang="en-US" sz="2400" b="1"/>
              <a:t>Motivation for automation</a:t>
            </a:r>
            <a:r>
              <a:rPr lang="en-US" sz="2400"/>
              <a:t>: Identifying high-risk posts early can facilitate timely support and crisis intervention</a:t>
            </a:r>
          </a:p>
          <a:p>
            <a:r>
              <a:rPr lang="en-US" sz="2400" b="1"/>
              <a:t>Broader significance</a:t>
            </a:r>
            <a:r>
              <a:rPr lang="en-US" sz="2400"/>
              <a:t>: Improving detection systems contributes to safer online communities</a:t>
            </a:r>
          </a:p>
        </p:txBody>
      </p:sp>
    </p:spTree>
    <p:extLst>
      <p:ext uri="{BB962C8B-B14F-4D97-AF65-F5344CB8AC3E}">
        <p14:creationId xmlns:p14="http://schemas.microsoft.com/office/powerpoint/2010/main" val="137189124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CDA954-1F34-165C-4F9C-F7833A53812A}"/>
              </a:ext>
            </a:extLst>
          </p:cNvPr>
          <p:cNvSpPr>
            <a:spLocks noGrp="1"/>
          </p:cNvSpPr>
          <p:nvPr>
            <p:ph type="title"/>
          </p:nvPr>
        </p:nvSpPr>
        <p:spPr>
          <a:xfrm>
            <a:off x="769620" y="1114046"/>
            <a:ext cx="4486656" cy="1141497"/>
          </a:xfrm>
        </p:spPr>
        <p:txBody>
          <a:bodyPr/>
          <a:lstStyle/>
          <a:p>
            <a:r>
              <a:rPr lang="en-US"/>
              <a:t>Data Source &amp; Observations</a:t>
            </a:r>
          </a:p>
        </p:txBody>
      </p:sp>
      <p:sp>
        <p:nvSpPr>
          <p:cNvPr id="3" name="Content Placeholder 2">
            <a:extLst>
              <a:ext uri="{FF2B5EF4-FFF2-40B4-BE49-F238E27FC236}">
                <a16:creationId xmlns:a16="http://schemas.microsoft.com/office/drawing/2014/main" id="{494FD10B-805F-682A-A42A-B3DABCE81B0A}"/>
              </a:ext>
            </a:extLst>
          </p:cNvPr>
          <p:cNvSpPr>
            <a:spLocks noGrp="1"/>
          </p:cNvSpPr>
          <p:nvPr>
            <p:ph idx="1"/>
          </p:nvPr>
        </p:nvSpPr>
        <p:spPr>
          <a:xfrm>
            <a:off x="6736080" y="804672"/>
            <a:ext cx="4815840" cy="2308324"/>
          </a:xfrm>
        </p:spPr>
        <p:txBody>
          <a:bodyPr>
            <a:normAutofit/>
          </a:bodyPr>
          <a:lstStyle/>
          <a:p>
            <a:pPr marL="0" indent="0">
              <a:buNone/>
            </a:pPr>
            <a:r>
              <a:rPr lang="en-US"/>
              <a:t>Kaggle’s “Suicide and Depression Detection” Dataset</a:t>
            </a:r>
          </a:p>
          <a:p>
            <a:r>
              <a:rPr lang="en-US"/>
              <a:t>Three labels / classes: the associated text for each class comes from a subreddit with the same name</a:t>
            </a:r>
          </a:p>
          <a:p>
            <a:r>
              <a:rPr lang="en-US"/>
              <a:t>Balanced labels:  ~116k posts per class</a:t>
            </a:r>
          </a:p>
        </p:txBody>
      </p:sp>
      <p:pic>
        <p:nvPicPr>
          <p:cNvPr id="8" name="Picture 7">
            <a:extLst>
              <a:ext uri="{FF2B5EF4-FFF2-40B4-BE49-F238E27FC236}">
                <a16:creationId xmlns:a16="http://schemas.microsoft.com/office/drawing/2014/main" id="{56BADBB1-C756-6C4F-9404-5DADC202CC01}"/>
              </a:ext>
            </a:extLst>
          </p:cNvPr>
          <p:cNvPicPr>
            <a:picLocks noChangeAspect="1"/>
          </p:cNvPicPr>
          <p:nvPr/>
        </p:nvPicPr>
        <p:blipFill>
          <a:blip r:embed="rId2"/>
          <a:stretch>
            <a:fillRect/>
          </a:stretch>
        </p:blipFill>
        <p:spPr>
          <a:xfrm>
            <a:off x="415798" y="3305331"/>
            <a:ext cx="5194300" cy="2286000"/>
          </a:xfrm>
          <a:prstGeom prst="rect">
            <a:avLst/>
          </a:prstGeom>
        </p:spPr>
      </p:pic>
      <p:sp>
        <p:nvSpPr>
          <p:cNvPr id="11" name="TextBox 10">
            <a:extLst>
              <a:ext uri="{FF2B5EF4-FFF2-40B4-BE49-F238E27FC236}">
                <a16:creationId xmlns:a16="http://schemas.microsoft.com/office/drawing/2014/main" id="{9FA7B5BF-8906-759E-2218-60F11CD7B5B1}"/>
              </a:ext>
            </a:extLst>
          </p:cNvPr>
          <p:cNvSpPr txBox="1"/>
          <p:nvPr/>
        </p:nvSpPr>
        <p:spPr>
          <a:xfrm>
            <a:off x="6736080" y="3580113"/>
            <a:ext cx="4630739" cy="2862322"/>
          </a:xfrm>
          <a:prstGeom prst="rect">
            <a:avLst/>
          </a:prstGeom>
          <a:noFill/>
        </p:spPr>
        <p:txBody>
          <a:bodyPr wrap="square" rtlCol="0">
            <a:spAutoFit/>
          </a:bodyPr>
          <a:lstStyle/>
          <a:p>
            <a:r>
              <a:rPr lang="en-US"/>
              <a:t>Labels</a:t>
            </a:r>
          </a:p>
          <a:p>
            <a:endParaRPr lang="en-US"/>
          </a:p>
          <a:p>
            <a:r>
              <a:rPr lang="en-US"/>
              <a:t>“</a:t>
            </a:r>
            <a:r>
              <a:rPr lang="en-US" err="1"/>
              <a:t>SuicideWatch</a:t>
            </a:r>
            <a:r>
              <a:rPr lang="en-US"/>
              <a:t>” -&gt; posts that express suicidal ideation, crisis, or urgent distress</a:t>
            </a:r>
          </a:p>
          <a:p>
            <a:endParaRPr lang="en-US"/>
          </a:p>
          <a:p>
            <a:r>
              <a:rPr lang="en-US"/>
              <a:t>“depression” -&gt; posts that describe depressive symptoms, hopelessness, or emotional pain</a:t>
            </a:r>
          </a:p>
          <a:p>
            <a:endParaRPr lang="en-US"/>
          </a:p>
          <a:p>
            <a:r>
              <a:rPr lang="en-US"/>
              <a:t>“teenagers” -&gt; posts referencing adolescence, school life, and general teen issues</a:t>
            </a:r>
          </a:p>
        </p:txBody>
      </p:sp>
    </p:spTree>
    <p:extLst>
      <p:ext uri="{BB962C8B-B14F-4D97-AF65-F5344CB8AC3E}">
        <p14:creationId xmlns:p14="http://schemas.microsoft.com/office/powerpoint/2010/main" val="107485362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237630-64F0-2670-8CBA-BB65301E775C}"/>
              </a:ext>
            </a:extLst>
          </p:cNvPr>
          <p:cNvSpPr>
            <a:spLocks noGrp="1"/>
          </p:cNvSpPr>
          <p:nvPr>
            <p:ph type="title"/>
          </p:nvPr>
        </p:nvSpPr>
        <p:spPr/>
        <p:txBody>
          <a:bodyPr/>
          <a:lstStyle/>
          <a:p>
            <a:r>
              <a:rPr lang="en-US"/>
              <a:t>Data Limitations &amp; Challenges</a:t>
            </a:r>
          </a:p>
        </p:txBody>
      </p:sp>
      <p:sp>
        <p:nvSpPr>
          <p:cNvPr id="3" name="Content Placeholder 2">
            <a:extLst>
              <a:ext uri="{FF2B5EF4-FFF2-40B4-BE49-F238E27FC236}">
                <a16:creationId xmlns:a16="http://schemas.microsoft.com/office/drawing/2014/main" id="{1907DA05-39E3-ED19-9FE8-DE7306593A02}"/>
              </a:ext>
            </a:extLst>
          </p:cNvPr>
          <p:cNvSpPr>
            <a:spLocks noGrp="1"/>
          </p:cNvSpPr>
          <p:nvPr>
            <p:ph idx="1"/>
          </p:nvPr>
        </p:nvSpPr>
        <p:spPr>
          <a:xfrm>
            <a:off x="944380" y="2378265"/>
            <a:ext cx="10403174" cy="4142457"/>
          </a:xfrm>
        </p:spPr>
        <p:txBody>
          <a:bodyPr>
            <a:noAutofit/>
          </a:bodyPr>
          <a:lstStyle/>
          <a:p>
            <a:r>
              <a:rPr lang="en-US" sz="2400" b="1"/>
              <a:t>Limited open-access mental health data</a:t>
            </a:r>
            <a:r>
              <a:rPr lang="en-US" sz="2400"/>
              <a:t>: Ethical constraints and privacy concerns make it difficult to find high-quality, publicly available datasets</a:t>
            </a:r>
          </a:p>
          <a:p>
            <a:r>
              <a:rPr lang="en-US" sz="2400" b="1"/>
              <a:t>Subreddit-based labeling is imperfect</a:t>
            </a:r>
            <a:r>
              <a:rPr lang="en-US" sz="2400"/>
              <a:t>: Labels depend on the subreddit where the post was made and not necessarily the writer’s actual mental state</a:t>
            </a:r>
          </a:p>
          <a:p>
            <a:r>
              <a:rPr lang="en-US" sz="2400" b="1"/>
              <a:t>Heavy overlap in emotional language</a:t>
            </a:r>
            <a:r>
              <a:rPr lang="en-US" sz="2400"/>
              <a:t>: Posts in ”</a:t>
            </a:r>
            <a:r>
              <a:rPr lang="en-US" sz="2400" err="1"/>
              <a:t>SuicideWatch</a:t>
            </a:r>
            <a:r>
              <a:rPr lang="en-US" sz="2400"/>
              <a:t>” and “depression” often express similar distress, making the boundaries between the labels blurry</a:t>
            </a:r>
          </a:p>
          <a:p>
            <a:r>
              <a:rPr lang="en-US" sz="2400" b="1"/>
              <a:t>Teenager posts use exaggerated language</a:t>
            </a:r>
            <a:r>
              <a:rPr lang="en-US" sz="2400"/>
              <a:t>:  Adolescents may be overly dramatic, increasing noise in the “teenagers” class, and reducing signal clarity</a:t>
            </a:r>
          </a:p>
        </p:txBody>
      </p:sp>
    </p:spTree>
    <p:extLst>
      <p:ext uri="{BB962C8B-B14F-4D97-AF65-F5344CB8AC3E}">
        <p14:creationId xmlns:p14="http://schemas.microsoft.com/office/powerpoint/2010/main" val="217006627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BB1131-E3B0-4987-A1FB-896DF3727407}"/>
              </a:ext>
            </a:extLst>
          </p:cNvPr>
          <p:cNvSpPr>
            <a:spLocks noGrp="1"/>
          </p:cNvSpPr>
          <p:nvPr>
            <p:ph type="title"/>
          </p:nvPr>
        </p:nvSpPr>
        <p:spPr>
          <a:xfrm>
            <a:off x="765449" y="546725"/>
            <a:ext cx="4494998" cy="1134640"/>
          </a:xfrm>
        </p:spPr>
        <p:txBody>
          <a:bodyPr/>
          <a:lstStyle/>
          <a:p>
            <a:r>
              <a:rPr lang="en-US"/>
              <a:t>Baseline TF-IDF MODEL</a:t>
            </a:r>
          </a:p>
        </p:txBody>
      </p:sp>
      <p:sp>
        <p:nvSpPr>
          <p:cNvPr id="4" name="Text Placeholder 3">
            <a:extLst>
              <a:ext uri="{FF2B5EF4-FFF2-40B4-BE49-F238E27FC236}">
                <a16:creationId xmlns:a16="http://schemas.microsoft.com/office/drawing/2014/main" id="{C476B677-6F47-0424-5689-E857ECE7771F}"/>
              </a:ext>
            </a:extLst>
          </p:cNvPr>
          <p:cNvSpPr>
            <a:spLocks noGrp="1"/>
          </p:cNvSpPr>
          <p:nvPr>
            <p:ph type="body" sz="half" idx="2"/>
          </p:nvPr>
        </p:nvSpPr>
        <p:spPr>
          <a:xfrm>
            <a:off x="269823" y="1933731"/>
            <a:ext cx="5456420" cy="4527029"/>
          </a:xfrm>
        </p:spPr>
        <p:txBody>
          <a:bodyPr>
            <a:normAutofit fontScale="92500" lnSpcReduction="10000"/>
          </a:bodyPr>
          <a:lstStyle/>
          <a:p>
            <a:pPr marL="285750" indent="-285750" algn="l">
              <a:buFont typeface="Arial" panose="020B0604020202020204" pitchFamily="34" charset="0"/>
              <a:buChar char="•"/>
            </a:pPr>
            <a:r>
              <a:rPr lang="en-US" sz="1800" b="1"/>
              <a:t>“Term Frequency-Inverse Document Frequency”</a:t>
            </a:r>
          </a:p>
          <a:p>
            <a:pPr marL="285750" indent="-285750" algn="l">
              <a:buFont typeface="Arial" panose="020B0604020202020204" pitchFamily="34" charset="0"/>
              <a:buChar char="•"/>
            </a:pPr>
            <a:r>
              <a:rPr lang="en-US" sz="1800"/>
              <a:t>- Maps words into numerical feature vectors</a:t>
            </a:r>
          </a:p>
          <a:p>
            <a:pPr marL="285750" indent="-285750" algn="l">
              <a:buFont typeface="Arial" panose="020B0604020202020204" pitchFamily="34" charset="0"/>
              <a:buChar char="•"/>
            </a:pPr>
            <a:endParaRPr lang="en-US" sz="1800"/>
          </a:p>
          <a:p>
            <a:pPr marL="285750" indent="-285750" algn="l">
              <a:buFont typeface="Arial" panose="020B0604020202020204" pitchFamily="34" charset="0"/>
              <a:buChar char="•"/>
            </a:pPr>
            <a:r>
              <a:rPr lang="en-US" sz="1800" b="1"/>
              <a:t>Process:</a:t>
            </a:r>
          </a:p>
          <a:p>
            <a:pPr marL="285750" indent="-285750" algn="l">
              <a:buFont typeface="Arial" panose="020B0604020202020204" pitchFamily="34" charset="0"/>
              <a:buChar char="•"/>
            </a:pPr>
            <a:r>
              <a:rPr lang="en-US" sz="1800"/>
              <a:t>- Create vocabulary of 20,00 most common unigrams and bigrams (single words &amp; word pairings)</a:t>
            </a:r>
          </a:p>
          <a:p>
            <a:pPr marL="285750" indent="-285750" algn="l">
              <a:buFont typeface="Arial" panose="020B0604020202020204" pitchFamily="34" charset="0"/>
              <a:buChar char="•"/>
            </a:pPr>
            <a:r>
              <a:rPr lang="en-US" sz="1800"/>
              <a:t>- Assign a numerical vector to each word / word pairing</a:t>
            </a:r>
          </a:p>
          <a:p>
            <a:pPr marL="285750" indent="-285750" algn="l">
              <a:buFont typeface="Arial" panose="020B0604020202020204" pitchFamily="34" charset="0"/>
              <a:buChar char="•"/>
            </a:pPr>
            <a:r>
              <a:rPr lang="en-US" sz="1800"/>
              <a:t>- Words that are frequent in a specific post, but not common across all posts get the highest weight</a:t>
            </a:r>
          </a:p>
          <a:p>
            <a:pPr marL="285750" indent="-285750" algn="l">
              <a:buFont typeface="Arial" panose="020B0604020202020204" pitchFamily="34" charset="0"/>
              <a:buChar char="•"/>
            </a:pPr>
            <a:endParaRPr lang="en-US" sz="1800"/>
          </a:p>
          <a:p>
            <a:pPr marL="285750" indent="-285750" algn="l">
              <a:buFont typeface="Arial" panose="020B0604020202020204" pitchFamily="34" charset="0"/>
              <a:buChar char="•"/>
            </a:pPr>
            <a:r>
              <a:rPr lang="en-US" sz="1800" b="1"/>
              <a:t>Idea:</a:t>
            </a:r>
          </a:p>
          <a:p>
            <a:pPr marL="285750" indent="-285750" algn="l">
              <a:buFont typeface="Arial" panose="020B0604020202020204" pitchFamily="34" charset="0"/>
              <a:buChar char="•"/>
            </a:pPr>
            <a:r>
              <a:rPr lang="en-US" sz="1800"/>
              <a:t>- Give more weight to words like “depressed” that appear only in higher-risk posts and less weight to filler words like “the”</a:t>
            </a:r>
          </a:p>
          <a:p>
            <a:pPr marL="285750" indent="-285750" algn="l">
              <a:buFont typeface="Arial" panose="020B0604020202020204" pitchFamily="34" charset="0"/>
              <a:buChar char="•"/>
            </a:pPr>
            <a:endParaRPr lang="en-US"/>
          </a:p>
        </p:txBody>
      </p:sp>
      <p:sp>
        <p:nvSpPr>
          <p:cNvPr id="7" name="Picture Placeholder 6">
            <a:extLst>
              <a:ext uri="{FF2B5EF4-FFF2-40B4-BE49-F238E27FC236}">
                <a16:creationId xmlns:a16="http://schemas.microsoft.com/office/drawing/2014/main" id="{3DDA0D2A-3A0F-988E-34A3-443F8BB8C114}"/>
              </a:ext>
            </a:extLst>
          </p:cNvPr>
          <p:cNvSpPr>
            <a:spLocks noGrp="1"/>
          </p:cNvSpPr>
          <p:nvPr>
            <p:ph type="pic" idx="1"/>
          </p:nvPr>
        </p:nvSpPr>
        <p:spPr>
          <a:xfrm>
            <a:off x="6095999" y="0"/>
            <a:ext cx="6102097" cy="3147934"/>
          </a:xfrm>
        </p:spPr>
        <p:txBody>
          <a:bodyPr/>
          <a:lstStyle/>
          <a:p>
            <a:pPr algn="ctr"/>
            <a:endParaRPr lang="en-US"/>
          </a:p>
          <a:p>
            <a:pPr algn="ctr"/>
            <a:endParaRPr lang="en-US"/>
          </a:p>
          <a:p>
            <a:pPr algn="ctr"/>
            <a:r>
              <a:rPr lang="en-US"/>
              <a:t>“I feel hopeless and depressed today, depressed about everything”</a:t>
            </a:r>
          </a:p>
          <a:p>
            <a:pPr algn="ctr"/>
            <a:endParaRPr lang="en-US"/>
          </a:p>
          <a:p>
            <a:pPr algn="ctr"/>
            <a:endParaRPr lang="en-US"/>
          </a:p>
        </p:txBody>
      </p:sp>
      <p:sp>
        <p:nvSpPr>
          <p:cNvPr id="8" name="TextBox 7">
            <a:extLst>
              <a:ext uri="{FF2B5EF4-FFF2-40B4-BE49-F238E27FC236}">
                <a16:creationId xmlns:a16="http://schemas.microsoft.com/office/drawing/2014/main" id="{70C1DFF5-21F9-0665-3EFF-2BFC8A9BE897}"/>
              </a:ext>
            </a:extLst>
          </p:cNvPr>
          <p:cNvSpPr txBox="1"/>
          <p:nvPr/>
        </p:nvSpPr>
        <p:spPr>
          <a:xfrm>
            <a:off x="7075356" y="4377128"/>
            <a:ext cx="254833" cy="523220"/>
          </a:xfrm>
          <a:prstGeom prst="rect">
            <a:avLst/>
          </a:prstGeom>
          <a:noFill/>
        </p:spPr>
        <p:txBody>
          <a:bodyPr wrap="square" rtlCol="0">
            <a:spAutoFit/>
          </a:bodyPr>
          <a:lstStyle/>
          <a:p>
            <a:r>
              <a:rPr lang="en-US" sz="2800"/>
              <a:t>i</a:t>
            </a:r>
          </a:p>
        </p:txBody>
      </p:sp>
      <p:sp>
        <p:nvSpPr>
          <p:cNvPr id="10" name="TextBox 9">
            <a:extLst>
              <a:ext uri="{FF2B5EF4-FFF2-40B4-BE49-F238E27FC236}">
                <a16:creationId xmlns:a16="http://schemas.microsoft.com/office/drawing/2014/main" id="{4F02656A-4C11-2F86-B722-3EFF7AFC2663}"/>
              </a:ext>
            </a:extLst>
          </p:cNvPr>
          <p:cNvSpPr txBox="1"/>
          <p:nvPr/>
        </p:nvSpPr>
        <p:spPr>
          <a:xfrm rot="2605992">
            <a:off x="6425227" y="4987906"/>
            <a:ext cx="692497" cy="523220"/>
          </a:xfrm>
          <a:prstGeom prst="rect">
            <a:avLst/>
          </a:prstGeom>
          <a:noFill/>
        </p:spPr>
        <p:txBody>
          <a:bodyPr wrap="none" rtlCol="0">
            <a:spAutoFit/>
          </a:bodyPr>
          <a:lstStyle/>
          <a:p>
            <a:r>
              <a:rPr lang="en-US" sz="2800"/>
              <a:t>feel</a:t>
            </a:r>
          </a:p>
        </p:txBody>
      </p:sp>
      <p:sp>
        <p:nvSpPr>
          <p:cNvPr id="11" name="TextBox 10">
            <a:extLst>
              <a:ext uri="{FF2B5EF4-FFF2-40B4-BE49-F238E27FC236}">
                <a16:creationId xmlns:a16="http://schemas.microsoft.com/office/drawing/2014/main" id="{9146D5DF-14F8-FEDC-0268-81FC86695A70}"/>
              </a:ext>
            </a:extLst>
          </p:cNvPr>
          <p:cNvSpPr txBox="1"/>
          <p:nvPr/>
        </p:nvSpPr>
        <p:spPr>
          <a:xfrm>
            <a:off x="9848537" y="4843259"/>
            <a:ext cx="1439818" cy="523220"/>
          </a:xfrm>
          <a:prstGeom prst="rect">
            <a:avLst/>
          </a:prstGeom>
          <a:noFill/>
        </p:spPr>
        <p:txBody>
          <a:bodyPr wrap="none" rtlCol="0">
            <a:spAutoFit/>
          </a:bodyPr>
          <a:lstStyle/>
          <a:p>
            <a:r>
              <a:rPr lang="en-US" sz="2800"/>
              <a:t>hopeless</a:t>
            </a:r>
          </a:p>
        </p:txBody>
      </p:sp>
      <p:sp>
        <p:nvSpPr>
          <p:cNvPr id="12" name="TextBox 11">
            <a:extLst>
              <a:ext uri="{FF2B5EF4-FFF2-40B4-BE49-F238E27FC236}">
                <a16:creationId xmlns:a16="http://schemas.microsoft.com/office/drawing/2014/main" id="{DC0D9623-4674-FB2A-C6A0-444D6ECFB8E2}"/>
              </a:ext>
            </a:extLst>
          </p:cNvPr>
          <p:cNvSpPr txBox="1"/>
          <p:nvPr/>
        </p:nvSpPr>
        <p:spPr>
          <a:xfrm>
            <a:off x="10118361" y="5366479"/>
            <a:ext cx="1655453" cy="523220"/>
          </a:xfrm>
          <a:prstGeom prst="rect">
            <a:avLst/>
          </a:prstGeom>
          <a:noFill/>
        </p:spPr>
        <p:txBody>
          <a:bodyPr wrap="none" rtlCol="0">
            <a:spAutoFit/>
          </a:bodyPr>
          <a:lstStyle/>
          <a:p>
            <a:r>
              <a:rPr lang="en-US" sz="2800"/>
              <a:t>depressed</a:t>
            </a:r>
          </a:p>
        </p:txBody>
      </p:sp>
      <p:sp>
        <p:nvSpPr>
          <p:cNvPr id="13" name="TextBox 12">
            <a:extLst>
              <a:ext uri="{FF2B5EF4-FFF2-40B4-BE49-F238E27FC236}">
                <a16:creationId xmlns:a16="http://schemas.microsoft.com/office/drawing/2014/main" id="{795BD23A-5595-6D85-D2B3-C3340FB057E2}"/>
              </a:ext>
            </a:extLst>
          </p:cNvPr>
          <p:cNvSpPr txBox="1"/>
          <p:nvPr/>
        </p:nvSpPr>
        <p:spPr>
          <a:xfrm>
            <a:off x="7474405" y="4559882"/>
            <a:ext cx="700833" cy="523220"/>
          </a:xfrm>
          <a:prstGeom prst="rect">
            <a:avLst/>
          </a:prstGeom>
          <a:noFill/>
        </p:spPr>
        <p:txBody>
          <a:bodyPr wrap="none" rtlCol="0">
            <a:spAutoFit/>
          </a:bodyPr>
          <a:lstStyle/>
          <a:p>
            <a:r>
              <a:rPr lang="en-US" sz="2800"/>
              <a:t>and</a:t>
            </a:r>
          </a:p>
        </p:txBody>
      </p:sp>
      <p:sp>
        <p:nvSpPr>
          <p:cNvPr id="14" name="TextBox 13">
            <a:extLst>
              <a:ext uri="{FF2B5EF4-FFF2-40B4-BE49-F238E27FC236}">
                <a16:creationId xmlns:a16="http://schemas.microsoft.com/office/drawing/2014/main" id="{71477C86-586D-8A4C-6F50-4BE9053200B9}"/>
              </a:ext>
            </a:extLst>
          </p:cNvPr>
          <p:cNvSpPr txBox="1"/>
          <p:nvPr/>
        </p:nvSpPr>
        <p:spPr>
          <a:xfrm rot="20548349">
            <a:off x="7258740" y="5104869"/>
            <a:ext cx="983026" cy="523220"/>
          </a:xfrm>
          <a:prstGeom prst="rect">
            <a:avLst/>
          </a:prstGeom>
          <a:noFill/>
        </p:spPr>
        <p:txBody>
          <a:bodyPr wrap="none" rtlCol="0">
            <a:spAutoFit/>
          </a:bodyPr>
          <a:lstStyle/>
          <a:p>
            <a:r>
              <a:rPr lang="en-US" sz="2800"/>
              <a:t>today</a:t>
            </a:r>
          </a:p>
        </p:txBody>
      </p:sp>
      <p:sp>
        <p:nvSpPr>
          <p:cNvPr id="15" name="TextBox 14">
            <a:extLst>
              <a:ext uri="{FF2B5EF4-FFF2-40B4-BE49-F238E27FC236}">
                <a16:creationId xmlns:a16="http://schemas.microsoft.com/office/drawing/2014/main" id="{E71AE486-7A81-6E72-CC4B-87F1BC13094B}"/>
              </a:ext>
            </a:extLst>
          </p:cNvPr>
          <p:cNvSpPr txBox="1"/>
          <p:nvPr/>
        </p:nvSpPr>
        <p:spPr>
          <a:xfrm>
            <a:off x="6643642" y="5677540"/>
            <a:ext cx="1016625" cy="523220"/>
          </a:xfrm>
          <a:prstGeom prst="rect">
            <a:avLst/>
          </a:prstGeom>
          <a:noFill/>
        </p:spPr>
        <p:txBody>
          <a:bodyPr wrap="none" rtlCol="0">
            <a:spAutoFit/>
          </a:bodyPr>
          <a:lstStyle/>
          <a:p>
            <a:r>
              <a:rPr lang="en-US" sz="2800"/>
              <a:t>about</a:t>
            </a:r>
          </a:p>
        </p:txBody>
      </p:sp>
      <p:cxnSp>
        <p:nvCxnSpPr>
          <p:cNvPr id="17" name="Straight Arrow Connector 16">
            <a:extLst>
              <a:ext uri="{FF2B5EF4-FFF2-40B4-BE49-F238E27FC236}">
                <a16:creationId xmlns:a16="http://schemas.microsoft.com/office/drawing/2014/main" id="{473C4606-BCFF-C777-81BF-4C4CF2EF220E}"/>
              </a:ext>
            </a:extLst>
          </p:cNvPr>
          <p:cNvCxnSpPr/>
          <p:nvPr/>
        </p:nvCxnSpPr>
        <p:spPr>
          <a:xfrm flipH="1">
            <a:off x="7824821" y="2728210"/>
            <a:ext cx="914445" cy="146903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9" name="Straight Arrow Connector 18">
            <a:extLst>
              <a:ext uri="{FF2B5EF4-FFF2-40B4-BE49-F238E27FC236}">
                <a16:creationId xmlns:a16="http://schemas.microsoft.com/office/drawing/2014/main" id="{62B932FA-04D9-798C-34A2-58624B0E943B}"/>
              </a:ext>
            </a:extLst>
          </p:cNvPr>
          <p:cNvCxnSpPr>
            <a:cxnSpLocks/>
          </p:cNvCxnSpPr>
          <p:nvPr/>
        </p:nvCxnSpPr>
        <p:spPr>
          <a:xfrm>
            <a:off x="9353862" y="2728210"/>
            <a:ext cx="919954" cy="2115049"/>
          </a:xfrm>
          <a:prstGeom prst="straightConnector1">
            <a:avLst/>
          </a:prstGeom>
          <a:ln w="92075">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36261009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708D02-F795-15DC-68A8-E698A0004133}"/>
              </a:ext>
            </a:extLst>
          </p:cNvPr>
          <p:cNvSpPr>
            <a:spLocks noGrp="1"/>
          </p:cNvSpPr>
          <p:nvPr>
            <p:ph type="title"/>
          </p:nvPr>
        </p:nvSpPr>
        <p:spPr/>
        <p:txBody>
          <a:bodyPr/>
          <a:lstStyle/>
          <a:p>
            <a:r>
              <a:rPr lang="en-US" err="1"/>
              <a:t>DistilBERT</a:t>
            </a:r>
            <a:r>
              <a:rPr lang="en-US"/>
              <a:t> model</a:t>
            </a:r>
          </a:p>
        </p:txBody>
      </p:sp>
      <p:sp>
        <p:nvSpPr>
          <p:cNvPr id="4" name="TextBox 3">
            <a:extLst>
              <a:ext uri="{FF2B5EF4-FFF2-40B4-BE49-F238E27FC236}">
                <a16:creationId xmlns:a16="http://schemas.microsoft.com/office/drawing/2014/main" id="{51DB1EA0-9208-7C40-6E85-986165FF1492}"/>
              </a:ext>
            </a:extLst>
          </p:cNvPr>
          <p:cNvSpPr txBox="1"/>
          <p:nvPr/>
        </p:nvSpPr>
        <p:spPr>
          <a:xfrm>
            <a:off x="772533" y="2658297"/>
            <a:ext cx="10646934" cy="3693319"/>
          </a:xfrm>
          <a:prstGeom prst="rect">
            <a:avLst/>
          </a:prstGeom>
          <a:noFill/>
        </p:spPr>
        <p:txBody>
          <a:bodyPr wrap="square" rtlCol="0">
            <a:spAutoFit/>
          </a:bodyPr>
          <a:lstStyle/>
          <a:p>
            <a:r>
              <a:rPr lang="en-US" b="1"/>
              <a:t>Goal</a:t>
            </a:r>
            <a:r>
              <a:rPr lang="en-US"/>
              <a:t>: Improve performance over baseline by capturing context and long-range dependencies in text</a:t>
            </a:r>
          </a:p>
          <a:p>
            <a:endParaRPr lang="en-US"/>
          </a:p>
          <a:p>
            <a:r>
              <a:rPr lang="en-US" b="1"/>
              <a:t>Model</a:t>
            </a:r>
            <a:r>
              <a:rPr lang="en-US"/>
              <a:t>: pre-trained </a:t>
            </a:r>
            <a:r>
              <a:rPr lang="en-US" err="1"/>
              <a:t>DistilBERT</a:t>
            </a:r>
            <a:r>
              <a:rPr lang="en-US"/>
              <a:t> adapted for sequence classification with classification head modified to output 3 logits (for the 3 labels)</a:t>
            </a:r>
          </a:p>
          <a:p>
            <a:endParaRPr lang="en-US"/>
          </a:p>
          <a:p>
            <a:r>
              <a:rPr lang="en-US" b="1"/>
              <a:t>Tokenization</a:t>
            </a:r>
            <a:r>
              <a:rPr lang="en-US"/>
              <a:t>: Used </a:t>
            </a:r>
            <a:r>
              <a:rPr lang="en-US" err="1"/>
              <a:t>DistilBertTokenizerFast</a:t>
            </a:r>
            <a:r>
              <a:rPr lang="en-US"/>
              <a:t> with truncation and padding</a:t>
            </a:r>
          </a:p>
          <a:p>
            <a:endParaRPr lang="en-US"/>
          </a:p>
          <a:p>
            <a:r>
              <a:rPr lang="en-US" b="1"/>
              <a:t>Training</a:t>
            </a:r>
            <a:r>
              <a:rPr lang="en-US"/>
              <a:t>:</a:t>
            </a:r>
          </a:p>
          <a:p>
            <a:r>
              <a:rPr lang="en-US"/>
              <a:t>- 3 epochs over the dataset</a:t>
            </a:r>
          </a:p>
          <a:p>
            <a:r>
              <a:rPr lang="en-US"/>
              <a:t>- Linear learning rate schedule (warm-up + decay)</a:t>
            </a:r>
          </a:p>
          <a:p>
            <a:r>
              <a:rPr lang="en-US"/>
              <a:t>- Adam optimizer with weight decay</a:t>
            </a:r>
          </a:p>
          <a:p>
            <a:endParaRPr lang="en-US"/>
          </a:p>
          <a:p>
            <a:endParaRPr lang="en-US"/>
          </a:p>
        </p:txBody>
      </p:sp>
    </p:spTree>
    <p:extLst>
      <p:ext uri="{BB962C8B-B14F-4D97-AF65-F5344CB8AC3E}">
        <p14:creationId xmlns:p14="http://schemas.microsoft.com/office/powerpoint/2010/main" val="286069508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5E87E0-61BF-F631-08F7-23F26FE09C6C}"/>
              </a:ext>
            </a:extLst>
          </p:cNvPr>
          <p:cNvSpPr>
            <a:spLocks noGrp="1"/>
          </p:cNvSpPr>
          <p:nvPr>
            <p:ph type="title"/>
          </p:nvPr>
        </p:nvSpPr>
        <p:spPr/>
        <p:txBody>
          <a:bodyPr/>
          <a:lstStyle/>
          <a:p>
            <a:r>
              <a:rPr lang="en-US"/>
              <a:t>Baseline Results By label</a:t>
            </a:r>
          </a:p>
        </p:txBody>
      </p:sp>
      <p:sp>
        <p:nvSpPr>
          <p:cNvPr id="4" name="Content Placeholder 3">
            <a:extLst>
              <a:ext uri="{FF2B5EF4-FFF2-40B4-BE49-F238E27FC236}">
                <a16:creationId xmlns:a16="http://schemas.microsoft.com/office/drawing/2014/main" id="{549FAF8A-4239-5AB8-30C1-C2925B4C36A9}"/>
              </a:ext>
            </a:extLst>
          </p:cNvPr>
          <p:cNvSpPr>
            <a:spLocks noGrp="1"/>
          </p:cNvSpPr>
          <p:nvPr>
            <p:ph sz="half" idx="2"/>
          </p:nvPr>
        </p:nvSpPr>
        <p:spPr>
          <a:xfrm>
            <a:off x="6338315" y="2323475"/>
            <a:ext cx="5578865" cy="4092315"/>
          </a:xfrm>
        </p:spPr>
        <p:txBody>
          <a:bodyPr>
            <a:normAutofit fontScale="85000" lnSpcReduction="20000"/>
          </a:bodyPr>
          <a:lstStyle/>
          <a:p>
            <a:pPr marL="0" indent="0">
              <a:buNone/>
            </a:pPr>
            <a:r>
              <a:rPr lang="en-US"/>
              <a:t>Teenagers</a:t>
            </a:r>
          </a:p>
          <a:p>
            <a:r>
              <a:rPr lang="en-US"/>
              <a:t>Performs the best by a significant margin</a:t>
            </a:r>
          </a:p>
          <a:p>
            <a:r>
              <a:rPr lang="en-US"/>
              <a:t>High recall likely due to the distinctive lexical cues in this class, such as references to school, parents, age, friends, or homework</a:t>
            </a:r>
          </a:p>
          <a:p>
            <a:pPr marL="0" indent="0">
              <a:buNone/>
            </a:pPr>
            <a:r>
              <a:rPr lang="en-US"/>
              <a:t>Depression</a:t>
            </a:r>
          </a:p>
          <a:p>
            <a:r>
              <a:rPr lang="en-US"/>
              <a:t>Worst performance</a:t>
            </a:r>
          </a:p>
          <a:p>
            <a:r>
              <a:rPr lang="en-US"/>
              <a:t>The emotional language is broad and varied (e.g., “sad”, “empty”, “can’t get out of bed”), and without deeper contextual understanding, this model struggles to distinguish depressive symptoms from general distress or crisis language</a:t>
            </a:r>
          </a:p>
          <a:p>
            <a:pPr marL="0" indent="0">
              <a:buNone/>
            </a:pPr>
            <a:r>
              <a:rPr lang="en-US" err="1"/>
              <a:t>SuicideWatch</a:t>
            </a:r>
            <a:endParaRPr lang="en-US"/>
          </a:p>
          <a:p>
            <a:r>
              <a:rPr lang="en-US"/>
              <a:t>Crisis posts often contain subtle expressions of suicidal ideation (e.g., “I don’t want to be here anymore”), which may not include explicit keywords.</a:t>
            </a:r>
          </a:p>
          <a:p>
            <a:r>
              <a:rPr lang="en-US"/>
              <a:t>Without contextual modeling, TF-IDF often confuses subtle crisis language with severe depressive language</a:t>
            </a:r>
          </a:p>
          <a:p>
            <a:endParaRPr lang="en-US"/>
          </a:p>
        </p:txBody>
      </p:sp>
      <p:pic>
        <p:nvPicPr>
          <p:cNvPr id="5" name="Picture 4">
            <a:extLst>
              <a:ext uri="{FF2B5EF4-FFF2-40B4-BE49-F238E27FC236}">
                <a16:creationId xmlns:a16="http://schemas.microsoft.com/office/drawing/2014/main" id="{E8198692-7D7C-5444-AEB8-0641291D35C0}"/>
              </a:ext>
            </a:extLst>
          </p:cNvPr>
          <p:cNvPicPr>
            <a:picLocks noChangeAspect="1"/>
          </p:cNvPicPr>
          <p:nvPr/>
        </p:nvPicPr>
        <p:blipFill>
          <a:blip r:embed="rId3"/>
          <a:stretch>
            <a:fillRect/>
          </a:stretch>
        </p:blipFill>
        <p:spPr>
          <a:xfrm>
            <a:off x="149582" y="3567659"/>
            <a:ext cx="5946418" cy="1490792"/>
          </a:xfrm>
          <a:prstGeom prst="rect">
            <a:avLst/>
          </a:prstGeom>
        </p:spPr>
      </p:pic>
    </p:spTree>
    <p:extLst>
      <p:ext uri="{BB962C8B-B14F-4D97-AF65-F5344CB8AC3E}">
        <p14:creationId xmlns:p14="http://schemas.microsoft.com/office/powerpoint/2010/main" val="184219951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38F729-874E-4017-6A6F-7B11FA56C8D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CF2144D-6DCF-A5E7-AEDA-FEEB39BB1ACD}"/>
              </a:ext>
            </a:extLst>
          </p:cNvPr>
          <p:cNvSpPr>
            <a:spLocks noGrp="1"/>
          </p:cNvSpPr>
          <p:nvPr>
            <p:ph type="title"/>
          </p:nvPr>
        </p:nvSpPr>
        <p:spPr>
          <a:xfrm>
            <a:off x="765449" y="546725"/>
            <a:ext cx="4494998" cy="1134640"/>
          </a:xfrm>
        </p:spPr>
        <p:txBody>
          <a:bodyPr/>
          <a:lstStyle/>
          <a:p>
            <a:r>
              <a:rPr lang="en-US"/>
              <a:t>Results Comparison</a:t>
            </a:r>
          </a:p>
        </p:txBody>
      </p:sp>
      <p:sp>
        <p:nvSpPr>
          <p:cNvPr id="4" name="Text Placeholder 3">
            <a:extLst>
              <a:ext uri="{FF2B5EF4-FFF2-40B4-BE49-F238E27FC236}">
                <a16:creationId xmlns:a16="http://schemas.microsoft.com/office/drawing/2014/main" id="{5E5808C3-7FC3-CBA6-E7E8-604CF86B69ED}"/>
              </a:ext>
            </a:extLst>
          </p:cNvPr>
          <p:cNvSpPr>
            <a:spLocks noGrp="1"/>
          </p:cNvSpPr>
          <p:nvPr>
            <p:ph type="body" sz="half" idx="2"/>
          </p:nvPr>
        </p:nvSpPr>
        <p:spPr>
          <a:xfrm>
            <a:off x="269823" y="1933731"/>
            <a:ext cx="5456420" cy="4527029"/>
          </a:xfrm>
        </p:spPr>
        <p:txBody>
          <a:bodyPr>
            <a:normAutofit/>
          </a:bodyPr>
          <a:lstStyle/>
          <a:p>
            <a:pPr marL="285750" indent="-285750" algn="l">
              <a:buFont typeface="Arial" panose="020B0604020202020204" pitchFamily="34" charset="0"/>
              <a:buChar char="•"/>
            </a:pPr>
            <a:r>
              <a:rPr lang="en-US" sz="2000" b="1"/>
              <a:t>Performance gains</a:t>
            </a:r>
            <a:r>
              <a:rPr lang="en-US" sz="2000"/>
              <a:t>:  Accuracy increased from 82% → 86%, Macro-F1 from 0.81 → 0.86, with corresponding improvements in Macro-Recall (+0.04) and Macro-Precision (+0.05)</a:t>
            </a:r>
          </a:p>
          <a:p>
            <a:pPr marL="285750" indent="-285750" algn="l">
              <a:buFont typeface="Arial" panose="020B0604020202020204" pitchFamily="34" charset="0"/>
              <a:buChar char="•"/>
            </a:pPr>
            <a:r>
              <a:rPr lang="en-US" sz="2000" b="1"/>
              <a:t>Transformer improvements</a:t>
            </a:r>
            <a:r>
              <a:rPr lang="en-US" sz="2000"/>
              <a:t>: Better at distinguishing </a:t>
            </a:r>
            <a:r>
              <a:rPr lang="en-US" sz="2000" err="1"/>
              <a:t>SuicideWatch</a:t>
            </a:r>
            <a:r>
              <a:rPr lang="en-US" sz="2000"/>
              <a:t> vs depression, understanding long narrative posts, and handling ambiguous teenager posts</a:t>
            </a:r>
          </a:p>
          <a:p>
            <a:pPr marL="285750" indent="-285750" algn="l">
              <a:buFont typeface="Arial" panose="020B0604020202020204" pitchFamily="34" charset="0"/>
              <a:buChar char="•"/>
            </a:pPr>
            <a:r>
              <a:rPr lang="en-US" sz="2000" b="1" err="1"/>
              <a:t>DistilBERT</a:t>
            </a:r>
            <a:r>
              <a:rPr lang="en-US" sz="2000" b="1"/>
              <a:t> advantage</a:t>
            </a:r>
            <a:r>
              <a:rPr lang="en-US" sz="2000"/>
              <a:t>: Captures semantic relationships across posts, detecting subtle crisis indicators, emotional escalation, and implicit suicidal ideation</a:t>
            </a:r>
          </a:p>
        </p:txBody>
      </p:sp>
      <p:sp>
        <p:nvSpPr>
          <p:cNvPr id="7" name="Picture Placeholder 6">
            <a:extLst>
              <a:ext uri="{FF2B5EF4-FFF2-40B4-BE49-F238E27FC236}">
                <a16:creationId xmlns:a16="http://schemas.microsoft.com/office/drawing/2014/main" id="{2005002D-1351-F3EA-928E-ACC3CAF57B29}"/>
              </a:ext>
            </a:extLst>
          </p:cNvPr>
          <p:cNvSpPr>
            <a:spLocks noGrp="1"/>
          </p:cNvSpPr>
          <p:nvPr>
            <p:ph type="pic" idx="1"/>
          </p:nvPr>
        </p:nvSpPr>
        <p:spPr>
          <a:xfrm>
            <a:off x="6096000" y="-17195"/>
            <a:ext cx="6102097" cy="6858000"/>
          </a:xfrm>
        </p:spPr>
        <p:txBody>
          <a:bodyPr/>
          <a:lstStyle/>
          <a:p>
            <a:pPr algn="ctr"/>
            <a:endParaRPr lang="en-US"/>
          </a:p>
          <a:p>
            <a:pPr algn="ctr"/>
            <a:endParaRPr lang="en-US"/>
          </a:p>
          <a:p>
            <a:pPr algn="ctr"/>
            <a:endParaRPr lang="en-US"/>
          </a:p>
        </p:txBody>
      </p:sp>
      <p:graphicFrame>
        <p:nvGraphicFramePr>
          <p:cNvPr id="6" name="Table 5">
            <a:extLst>
              <a:ext uri="{FF2B5EF4-FFF2-40B4-BE49-F238E27FC236}">
                <a16:creationId xmlns:a16="http://schemas.microsoft.com/office/drawing/2014/main" id="{BA9D60AF-B4CD-B76F-A1CE-18398B67D4F2}"/>
              </a:ext>
            </a:extLst>
          </p:cNvPr>
          <p:cNvGraphicFramePr>
            <a:graphicFrameLocks noGrp="1"/>
          </p:cNvGraphicFramePr>
          <p:nvPr>
            <p:extLst>
              <p:ext uri="{D42A27DB-BD31-4B8C-83A1-F6EECF244321}">
                <p14:modId xmlns:p14="http://schemas.microsoft.com/office/powerpoint/2010/main" val="2812337361"/>
              </p:ext>
            </p:extLst>
          </p:nvPr>
        </p:nvGraphicFramePr>
        <p:xfrm>
          <a:off x="6161508" y="2289085"/>
          <a:ext cx="5971080" cy="2760480"/>
        </p:xfrm>
        <a:graphic>
          <a:graphicData uri="http://schemas.openxmlformats.org/drawingml/2006/table">
            <a:tbl>
              <a:tblPr/>
              <a:tblGrid>
                <a:gridCol w="1194216">
                  <a:extLst>
                    <a:ext uri="{9D8B030D-6E8A-4147-A177-3AD203B41FA5}">
                      <a16:colId xmlns:a16="http://schemas.microsoft.com/office/drawing/2014/main" val="1290274135"/>
                    </a:ext>
                  </a:extLst>
                </a:gridCol>
                <a:gridCol w="1194216">
                  <a:extLst>
                    <a:ext uri="{9D8B030D-6E8A-4147-A177-3AD203B41FA5}">
                      <a16:colId xmlns:a16="http://schemas.microsoft.com/office/drawing/2014/main" val="2563566579"/>
                    </a:ext>
                  </a:extLst>
                </a:gridCol>
                <a:gridCol w="1194216">
                  <a:extLst>
                    <a:ext uri="{9D8B030D-6E8A-4147-A177-3AD203B41FA5}">
                      <a16:colId xmlns:a16="http://schemas.microsoft.com/office/drawing/2014/main" val="1184057075"/>
                    </a:ext>
                  </a:extLst>
                </a:gridCol>
                <a:gridCol w="1194216">
                  <a:extLst>
                    <a:ext uri="{9D8B030D-6E8A-4147-A177-3AD203B41FA5}">
                      <a16:colId xmlns:a16="http://schemas.microsoft.com/office/drawing/2014/main" val="1011568612"/>
                    </a:ext>
                  </a:extLst>
                </a:gridCol>
                <a:gridCol w="1194216">
                  <a:extLst>
                    <a:ext uri="{9D8B030D-6E8A-4147-A177-3AD203B41FA5}">
                      <a16:colId xmlns:a16="http://schemas.microsoft.com/office/drawing/2014/main" val="614414856"/>
                    </a:ext>
                  </a:extLst>
                </a:gridCol>
              </a:tblGrid>
              <a:tr h="1168243">
                <a:tc>
                  <a:txBody>
                    <a:bodyPr/>
                    <a:lstStyle/>
                    <a:p>
                      <a:pPr algn="ctr" rtl="0" fontAlgn="t">
                        <a:buNone/>
                      </a:pPr>
                      <a:r>
                        <a:rPr lang="en-US" sz="2000" b="1" i="0" u="none" strike="noStrike">
                          <a:solidFill>
                            <a:srgbClr val="000000"/>
                          </a:solidFill>
                          <a:effectLst/>
                          <a:latin typeface="Times New Roman" panose="02020603050405020304" pitchFamily="18" charset="0"/>
                        </a:rPr>
                        <a:t>Model</a:t>
                      </a:r>
                      <a:endParaRPr lang="en-US" sz="2000" b="1">
                        <a:effectLst/>
                      </a:endParaRPr>
                    </a:p>
                  </a:txBody>
                  <a:tcPr marL="63500" marR="63500" marT="63500" marB="6350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t">
                        <a:buNone/>
                      </a:pPr>
                      <a:r>
                        <a:rPr lang="en-US" sz="2000" b="1" i="0" u="none" strike="noStrike">
                          <a:solidFill>
                            <a:srgbClr val="000000"/>
                          </a:solidFill>
                          <a:effectLst/>
                          <a:latin typeface="Times New Roman" panose="02020603050405020304" pitchFamily="18" charset="0"/>
                        </a:rPr>
                        <a:t>Accuracy</a:t>
                      </a:r>
                      <a:endParaRPr lang="en-US" sz="2000" b="1">
                        <a:effectLst/>
                      </a:endParaRPr>
                    </a:p>
                  </a:txBody>
                  <a:tcPr marL="63500" marR="63500" marT="63500" marB="6350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t">
                        <a:buNone/>
                      </a:pPr>
                      <a:r>
                        <a:rPr lang="en-US" sz="2000" b="1" i="0" u="none" strike="noStrike">
                          <a:solidFill>
                            <a:srgbClr val="000000"/>
                          </a:solidFill>
                          <a:effectLst/>
                          <a:latin typeface="Times New Roman" panose="02020603050405020304" pitchFamily="18" charset="0"/>
                        </a:rPr>
                        <a:t>Macro Precision</a:t>
                      </a:r>
                      <a:endParaRPr lang="en-US" sz="2000" b="1">
                        <a:effectLst/>
                      </a:endParaRPr>
                    </a:p>
                  </a:txBody>
                  <a:tcPr marL="63500" marR="63500" marT="63500" marB="6350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t">
                        <a:buNone/>
                      </a:pPr>
                      <a:r>
                        <a:rPr lang="en-US" sz="2000" b="1" i="0" u="none" strike="noStrike">
                          <a:solidFill>
                            <a:srgbClr val="000000"/>
                          </a:solidFill>
                          <a:effectLst/>
                          <a:latin typeface="Times New Roman" panose="02020603050405020304" pitchFamily="18" charset="0"/>
                        </a:rPr>
                        <a:t>Macro Recall</a:t>
                      </a:r>
                      <a:endParaRPr lang="en-US" sz="2000" b="1">
                        <a:effectLst/>
                      </a:endParaRPr>
                    </a:p>
                  </a:txBody>
                  <a:tcPr marL="63500" marR="63500" marT="63500" marB="6350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t">
                        <a:buNone/>
                      </a:pPr>
                      <a:r>
                        <a:rPr lang="en-US" sz="2000" b="1" i="0" u="none" strike="noStrike">
                          <a:solidFill>
                            <a:srgbClr val="000000"/>
                          </a:solidFill>
                          <a:effectLst/>
                          <a:latin typeface="Times New Roman" panose="02020603050405020304" pitchFamily="18" charset="0"/>
                        </a:rPr>
                        <a:t>Macro F1</a:t>
                      </a:r>
                      <a:endParaRPr lang="en-US" sz="2000" b="1">
                        <a:effectLst/>
                      </a:endParaRPr>
                    </a:p>
                  </a:txBody>
                  <a:tcPr marL="63500" marR="63500" marT="63500" marB="6350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007138139"/>
                  </a:ext>
                </a:extLst>
              </a:tr>
              <a:tr h="783834">
                <a:tc>
                  <a:txBody>
                    <a:bodyPr/>
                    <a:lstStyle/>
                    <a:p>
                      <a:pPr algn="ctr" rtl="0" fontAlgn="t">
                        <a:buNone/>
                      </a:pPr>
                      <a:r>
                        <a:rPr lang="en-US" sz="2000" b="1" i="0" u="none" strike="noStrike">
                          <a:solidFill>
                            <a:srgbClr val="000000"/>
                          </a:solidFill>
                          <a:effectLst/>
                          <a:latin typeface="Times New Roman" panose="02020603050405020304" pitchFamily="18" charset="0"/>
                        </a:rPr>
                        <a:t>Baseline</a:t>
                      </a:r>
                      <a:endParaRPr lang="en-US" sz="2000" b="1">
                        <a:effectLst/>
                      </a:endParaRPr>
                    </a:p>
                  </a:txBody>
                  <a:tcPr marL="63500" marR="63500" marT="63500" marB="6350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t">
                        <a:buNone/>
                      </a:pPr>
                      <a:r>
                        <a:rPr lang="en-US" sz="2000" b="0" i="0" u="none" strike="noStrike">
                          <a:solidFill>
                            <a:srgbClr val="000000"/>
                          </a:solidFill>
                          <a:effectLst/>
                          <a:latin typeface="Times New Roman" panose="02020603050405020304" pitchFamily="18" charset="0"/>
                        </a:rPr>
                        <a:t>0.82</a:t>
                      </a:r>
                      <a:endParaRPr lang="en-US" sz="2000" b="0">
                        <a:effectLst/>
                      </a:endParaRPr>
                    </a:p>
                  </a:txBody>
                  <a:tcPr marL="63500" marR="63500" marT="63500" marB="6350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t">
                        <a:buNone/>
                      </a:pPr>
                      <a:r>
                        <a:rPr lang="en-US" sz="2000" b="0" i="0" u="none" strike="noStrike">
                          <a:solidFill>
                            <a:srgbClr val="000000"/>
                          </a:solidFill>
                          <a:effectLst/>
                          <a:latin typeface="Times New Roman" panose="02020603050405020304" pitchFamily="18" charset="0"/>
                        </a:rPr>
                        <a:t>0.81</a:t>
                      </a:r>
                      <a:endParaRPr lang="en-US" sz="2000" b="0">
                        <a:effectLst/>
                      </a:endParaRPr>
                    </a:p>
                  </a:txBody>
                  <a:tcPr marL="63500" marR="63500" marT="63500" marB="6350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t">
                        <a:buNone/>
                      </a:pPr>
                      <a:r>
                        <a:rPr lang="en-US" sz="2000" b="0" i="0" u="none" strike="noStrike">
                          <a:solidFill>
                            <a:srgbClr val="000000"/>
                          </a:solidFill>
                          <a:effectLst/>
                          <a:latin typeface="Times New Roman" panose="02020603050405020304" pitchFamily="18" charset="0"/>
                        </a:rPr>
                        <a:t>0.82</a:t>
                      </a:r>
                      <a:endParaRPr lang="en-US" sz="2000" b="0">
                        <a:effectLst/>
                      </a:endParaRPr>
                    </a:p>
                  </a:txBody>
                  <a:tcPr marL="63500" marR="63500" marT="63500" marB="6350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t">
                        <a:buNone/>
                      </a:pPr>
                      <a:r>
                        <a:rPr lang="en-US" sz="2000" b="0" i="0" u="none" strike="noStrike">
                          <a:solidFill>
                            <a:srgbClr val="000000"/>
                          </a:solidFill>
                          <a:effectLst/>
                          <a:latin typeface="Times New Roman" panose="02020603050405020304" pitchFamily="18" charset="0"/>
                        </a:rPr>
                        <a:t>0.81</a:t>
                      </a:r>
                      <a:endParaRPr lang="en-US" sz="2000" b="0">
                        <a:effectLst/>
                      </a:endParaRPr>
                    </a:p>
                  </a:txBody>
                  <a:tcPr marL="63500" marR="63500" marT="63500" marB="6350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264914234"/>
                  </a:ext>
                </a:extLst>
              </a:tr>
              <a:tr h="808403">
                <a:tc>
                  <a:txBody>
                    <a:bodyPr/>
                    <a:lstStyle/>
                    <a:p>
                      <a:pPr algn="ctr" rtl="0" fontAlgn="t">
                        <a:buNone/>
                      </a:pPr>
                      <a:r>
                        <a:rPr lang="en-US" sz="1600" b="1" i="0" u="none" strike="noStrike" err="1">
                          <a:solidFill>
                            <a:srgbClr val="000000"/>
                          </a:solidFill>
                          <a:effectLst/>
                          <a:latin typeface="Times New Roman" panose="02020603050405020304" pitchFamily="18" charset="0"/>
                        </a:rPr>
                        <a:t>DistilBERT</a:t>
                      </a:r>
                      <a:endParaRPr lang="en-US" sz="1600" b="1">
                        <a:effectLst/>
                      </a:endParaRPr>
                    </a:p>
                  </a:txBody>
                  <a:tcPr marL="63500" marR="63500" marT="63500" marB="6350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t">
                        <a:buNone/>
                      </a:pPr>
                      <a:r>
                        <a:rPr lang="en-US" sz="2000" b="0" i="0" u="none" strike="noStrike">
                          <a:solidFill>
                            <a:srgbClr val="000000"/>
                          </a:solidFill>
                          <a:effectLst/>
                          <a:latin typeface="Times New Roman" panose="02020603050405020304" pitchFamily="18" charset="0"/>
                        </a:rPr>
                        <a:t>0.8604</a:t>
                      </a:r>
                      <a:endParaRPr lang="en-US" sz="2000" b="0">
                        <a:effectLst/>
                      </a:endParaRPr>
                    </a:p>
                  </a:txBody>
                  <a:tcPr marL="63500" marR="63500" marT="63500" marB="6350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t">
                        <a:buNone/>
                      </a:pPr>
                      <a:r>
                        <a:rPr lang="en-US" sz="2000" b="0" i="0" u="none" strike="noStrike">
                          <a:solidFill>
                            <a:srgbClr val="000000"/>
                          </a:solidFill>
                          <a:effectLst/>
                          <a:latin typeface="Times New Roman" panose="02020603050405020304" pitchFamily="18" charset="0"/>
                        </a:rPr>
                        <a:t>0.8604</a:t>
                      </a:r>
                      <a:endParaRPr lang="en-US" sz="2000" b="0">
                        <a:effectLst/>
                      </a:endParaRPr>
                    </a:p>
                  </a:txBody>
                  <a:tcPr marL="63500" marR="63500" marT="63500" marB="6350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t">
                        <a:buNone/>
                      </a:pPr>
                      <a:r>
                        <a:rPr lang="en-US" sz="2000" b="0" i="0" u="none" strike="noStrike">
                          <a:solidFill>
                            <a:srgbClr val="000000"/>
                          </a:solidFill>
                          <a:effectLst/>
                          <a:latin typeface="Times New Roman" panose="02020603050405020304" pitchFamily="18" charset="0"/>
                        </a:rPr>
                        <a:t>0.8604</a:t>
                      </a:r>
                      <a:endParaRPr lang="en-US" sz="2000" b="0">
                        <a:effectLst/>
                      </a:endParaRPr>
                    </a:p>
                  </a:txBody>
                  <a:tcPr marL="63500" marR="63500" marT="63500" marB="6350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t">
                        <a:buNone/>
                      </a:pPr>
                      <a:r>
                        <a:rPr lang="en-US" sz="2000" b="0" i="0" u="none" strike="noStrike">
                          <a:solidFill>
                            <a:srgbClr val="000000"/>
                          </a:solidFill>
                          <a:effectLst/>
                          <a:latin typeface="Times New Roman" panose="02020603050405020304" pitchFamily="18" charset="0"/>
                        </a:rPr>
                        <a:t>0.8604</a:t>
                      </a:r>
                      <a:endParaRPr lang="en-US" sz="2000" b="0">
                        <a:effectLst/>
                      </a:endParaRPr>
                    </a:p>
                  </a:txBody>
                  <a:tcPr marL="63500" marR="63500" marT="63500" marB="6350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685955932"/>
                  </a:ext>
                </a:extLst>
              </a:tr>
            </a:tbl>
          </a:graphicData>
        </a:graphic>
      </p:graphicFrame>
      <p:sp>
        <p:nvSpPr>
          <p:cNvPr id="9" name="Rectangle 2">
            <a:extLst>
              <a:ext uri="{FF2B5EF4-FFF2-40B4-BE49-F238E27FC236}">
                <a16:creationId xmlns:a16="http://schemas.microsoft.com/office/drawing/2014/main" id="{7C8A0D79-6B06-6C3E-3052-04DB04609D31}"/>
              </a:ext>
            </a:extLst>
          </p:cNvPr>
          <p:cNvSpPr>
            <a:spLocks noChangeArrowheads="1"/>
          </p:cNvSpPr>
          <p:nvPr/>
        </p:nvSpPr>
        <p:spPr bwMode="auto">
          <a:xfrm>
            <a:off x="6871741" y="990503"/>
            <a:ext cx="8797977" cy="3830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US"/>
          </a:p>
        </p:txBody>
      </p:sp>
    </p:spTree>
    <p:extLst>
      <p:ext uri="{BB962C8B-B14F-4D97-AF65-F5344CB8AC3E}">
        <p14:creationId xmlns:p14="http://schemas.microsoft.com/office/powerpoint/2010/main" val="170720023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6ADED5-1EBA-8510-86B5-0D1E16C4AB5D}"/>
              </a:ext>
            </a:extLst>
          </p:cNvPr>
          <p:cNvSpPr>
            <a:spLocks noGrp="1"/>
          </p:cNvSpPr>
          <p:nvPr>
            <p:ph type="title"/>
          </p:nvPr>
        </p:nvSpPr>
        <p:spPr/>
        <p:txBody>
          <a:bodyPr/>
          <a:lstStyle/>
          <a:p>
            <a:r>
              <a:rPr lang="en-US"/>
              <a:t>ERROR </a:t>
            </a:r>
            <a:r>
              <a:rPr lang="en-US" err="1"/>
              <a:t>ANALysis</a:t>
            </a:r>
            <a:r>
              <a:rPr lang="en-US"/>
              <a:t>: Common themes</a:t>
            </a:r>
          </a:p>
        </p:txBody>
      </p:sp>
      <p:sp>
        <p:nvSpPr>
          <p:cNvPr id="3" name="Content Placeholder 2">
            <a:extLst>
              <a:ext uri="{FF2B5EF4-FFF2-40B4-BE49-F238E27FC236}">
                <a16:creationId xmlns:a16="http://schemas.microsoft.com/office/drawing/2014/main" id="{72F8B83F-9825-EB44-B6C4-6C8E778689C8}"/>
              </a:ext>
            </a:extLst>
          </p:cNvPr>
          <p:cNvSpPr>
            <a:spLocks noGrp="1"/>
          </p:cNvSpPr>
          <p:nvPr>
            <p:ph idx="1"/>
          </p:nvPr>
        </p:nvSpPr>
        <p:spPr/>
        <p:txBody>
          <a:bodyPr vert="horz" lIns="91440" tIns="45720" rIns="91440" bIns="45720" rtlCol="0" anchor="t">
            <a:normAutofit/>
          </a:bodyPr>
          <a:lstStyle/>
          <a:p>
            <a:pPr marL="0" indent="0">
              <a:buNone/>
            </a:pPr>
            <a:r>
              <a:rPr lang="en-US" err="1"/>
              <a:t>SuicideWatch</a:t>
            </a:r>
            <a:r>
              <a:rPr lang="en-US"/>
              <a:t> labeled as depression</a:t>
            </a:r>
          </a:p>
          <a:p>
            <a:r>
              <a:rPr lang="en-US"/>
              <a:t>Many crisis posts express depression without explicit suicidal keywords</a:t>
            </a:r>
          </a:p>
          <a:p>
            <a:pPr marL="0" indent="0">
              <a:buNone/>
            </a:pPr>
            <a:r>
              <a:rPr lang="en-US"/>
              <a:t>Teenagers labeled as depression</a:t>
            </a:r>
          </a:p>
          <a:p>
            <a:r>
              <a:rPr lang="en-US"/>
              <a:t>A lot of figurative expressions can be misclassified as depression.</a:t>
            </a:r>
          </a:p>
          <a:p>
            <a:pPr marL="0" indent="0">
              <a:buNone/>
            </a:pPr>
            <a:r>
              <a:rPr lang="en-US"/>
              <a:t>Label noise</a:t>
            </a:r>
          </a:p>
          <a:p>
            <a:r>
              <a:rPr lang="en-US"/>
              <a:t>Some posts from “teenagers” subreddit discuss serious mental health issues, making the label ambiguous</a:t>
            </a:r>
          </a:p>
        </p:txBody>
      </p:sp>
    </p:spTree>
    <p:extLst>
      <p:ext uri="{BB962C8B-B14F-4D97-AF65-F5344CB8AC3E}">
        <p14:creationId xmlns:p14="http://schemas.microsoft.com/office/powerpoint/2010/main" val="312646900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06511AE-54F0-C3C0-64D1-E20008BA34D6}"/>
              </a:ext>
            </a:extLst>
          </p:cNvPr>
          <p:cNvSpPr>
            <a:spLocks noGrp="1"/>
          </p:cNvSpPr>
          <p:nvPr>
            <p:ph type="title"/>
          </p:nvPr>
        </p:nvSpPr>
        <p:spPr>
          <a:xfrm>
            <a:off x="804672" y="964692"/>
            <a:ext cx="3066937" cy="1188720"/>
          </a:xfrm>
        </p:spPr>
        <p:txBody>
          <a:bodyPr vert="horz" lIns="182880" tIns="182880" rIns="182880" bIns="182880" rtlCol="0" anchor="ctr">
            <a:normAutofit/>
          </a:bodyPr>
          <a:lstStyle/>
          <a:p>
            <a:r>
              <a:rPr lang="en-US" altLang="zh-CN" sz="2000"/>
              <a:t>Error analysis: long text truncation</a:t>
            </a:r>
          </a:p>
        </p:txBody>
      </p:sp>
      <p:sp>
        <p:nvSpPr>
          <p:cNvPr id="4" name="文本占位符 3">
            <a:extLst>
              <a:ext uri="{FF2B5EF4-FFF2-40B4-BE49-F238E27FC236}">
                <a16:creationId xmlns:a16="http://schemas.microsoft.com/office/drawing/2014/main" id="{E6FFE83F-74EB-9C7D-8244-16C6F7018E07}"/>
              </a:ext>
            </a:extLst>
          </p:cNvPr>
          <p:cNvSpPr>
            <a:spLocks noGrp="1"/>
          </p:cNvSpPr>
          <p:nvPr>
            <p:ph type="body" sz="half" idx="2"/>
          </p:nvPr>
        </p:nvSpPr>
        <p:spPr>
          <a:xfrm>
            <a:off x="803244" y="2638044"/>
            <a:ext cx="3063765" cy="3263206"/>
          </a:xfrm>
        </p:spPr>
        <p:txBody>
          <a:bodyPr vert="horz" lIns="91440" tIns="45720" rIns="91440" bIns="45720" rtlCol="0">
            <a:normAutofit/>
          </a:bodyPr>
          <a:lstStyle/>
          <a:p>
            <a:pPr indent="-228600" algn="l">
              <a:buFont typeface="Arial" panose="020B0604020202020204" pitchFamily="34" charset="0"/>
              <a:buChar char="•"/>
            </a:pPr>
            <a:r>
              <a:rPr lang="en-US" altLang="zh-CN">
                <a:solidFill>
                  <a:schemeClr val="tx1">
                    <a:lumMod val="85000"/>
                    <a:lumOff val="15000"/>
                  </a:schemeClr>
                </a:solidFill>
              </a:rPr>
              <a:t>The 128 Token Problem</a:t>
            </a:r>
          </a:p>
          <a:p>
            <a:pPr marL="285750" indent="-228600" algn="l">
              <a:buFont typeface="Arial" panose="020B0604020202020204" pitchFamily="34" charset="0"/>
              <a:buChar char="•"/>
            </a:pPr>
            <a:r>
              <a:rPr lang="en-US" altLang="zh-CN">
                <a:solidFill>
                  <a:schemeClr val="tx1">
                    <a:lumMod val="85000"/>
                    <a:lumOff val="15000"/>
                  </a:schemeClr>
                </a:solidFill>
              </a:rPr>
              <a:t>Efficient for training</a:t>
            </a:r>
          </a:p>
          <a:p>
            <a:pPr marL="285750" indent="-228600" algn="l">
              <a:buFont typeface="Arial" panose="020B0604020202020204" pitchFamily="34" charset="0"/>
              <a:buChar char="•"/>
            </a:pPr>
            <a:r>
              <a:rPr lang="en-US" altLang="zh-CN">
                <a:solidFill>
                  <a:schemeClr val="tx1">
                    <a:lumMod val="85000"/>
                    <a:lumOff val="15000"/>
                  </a:schemeClr>
                </a:solidFill>
              </a:rPr>
              <a:t>Missing suicidal intent that's always at the end -&gt; misclassification</a:t>
            </a:r>
          </a:p>
          <a:p>
            <a:pPr marL="285750" indent="-228600" algn="l">
              <a:buFont typeface="Arial" panose="020B0604020202020204" pitchFamily="34" charset="0"/>
              <a:buChar char="•"/>
            </a:pPr>
            <a:r>
              <a:rPr lang="en-US" altLang="zh-CN">
                <a:solidFill>
                  <a:schemeClr val="tx1">
                    <a:lumMod val="85000"/>
                    <a:lumOff val="15000"/>
                  </a:schemeClr>
                </a:solidFill>
              </a:rPr>
              <a:t>Longer posts in KDE plot -&gt; higher false negative rate</a:t>
            </a:r>
          </a:p>
          <a:p>
            <a:pPr marL="285750" indent="-228600" algn="l">
              <a:buFont typeface="Arial" panose="020B0604020202020204" pitchFamily="34" charset="0"/>
              <a:buChar char="•"/>
            </a:pPr>
            <a:r>
              <a:rPr lang="en-US" altLang="zh-CN">
                <a:solidFill>
                  <a:schemeClr val="tx1">
                    <a:lumMod val="85000"/>
                    <a:lumOff val="15000"/>
                  </a:schemeClr>
                </a:solidFill>
              </a:rPr>
              <a:t>Explicit suicidal intent always appears </a:t>
            </a:r>
            <a:r>
              <a:rPr lang="en-US" altLang="zh-CN" i="1">
                <a:solidFill>
                  <a:schemeClr val="tx1">
                    <a:lumMod val="85000"/>
                    <a:lumOff val="15000"/>
                  </a:schemeClr>
                </a:solidFill>
              </a:rPr>
              <a:t>after</a:t>
            </a:r>
            <a:r>
              <a:rPr lang="en-US" altLang="zh-CN">
                <a:solidFill>
                  <a:schemeClr val="tx1">
                    <a:lumMod val="85000"/>
                    <a:lumOff val="15000"/>
                  </a:schemeClr>
                </a:solidFill>
              </a:rPr>
              <a:t> the truncation cut</a:t>
            </a:r>
          </a:p>
        </p:txBody>
      </p:sp>
      <p:sp>
        <p:nvSpPr>
          <p:cNvPr id="10" name="Rectangle 9">
            <a:extLst>
              <a:ext uri="{FF2B5EF4-FFF2-40B4-BE49-F238E27FC236}">
                <a16:creationId xmlns:a16="http://schemas.microsoft.com/office/drawing/2014/main" id="{6515FC82-3453-4CBE-8895-4CCFF33952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94182" y="964692"/>
            <a:ext cx="6885432" cy="4936558"/>
          </a:xfrm>
          <a:prstGeom prst="rect">
            <a:avLst/>
          </a:prstGeom>
          <a:noFill/>
          <a:ln w="31750" cap="sq">
            <a:solidFill>
              <a:srgbClr val="FFFFFF"/>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C5FD847B-65C0-4027-8DFC-70CB424514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57802" y="1128683"/>
            <a:ext cx="6558192" cy="4608576"/>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内容占位符 4" descr="图表, 折线图&#10;&#10;AI 生成的内容可能不正确。">
            <a:extLst>
              <a:ext uri="{FF2B5EF4-FFF2-40B4-BE49-F238E27FC236}">
                <a16:creationId xmlns:a16="http://schemas.microsoft.com/office/drawing/2014/main" id="{92E63D79-B791-A08A-3639-5013D2BA6D63}"/>
              </a:ext>
            </a:extLst>
          </p:cNvPr>
          <p:cNvPicPr>
            <a:picLocks noGrp="1" noChangeAspect="1"/>
          </p:cNvPicPr>
          <p:nvPr>
            <p:ph idx="1"/>
          </p:nvPr>
        </p:nvPicPr>
        <p:blipFill>
          <a:blip r:embed="rId2"/>
          <a:stretch>
            <a:fillRect/>
          </a:stretch>
        </p:blipFill>
        <p:spPr>
          <a:xfrm>
            <a:off x="4823366" y="1790583"/>
            <a:ext cx="6227064" cy="3284776"/>
          </a:xfrm>
          <a:prstGeom prst="rect">
            <a:avLst/>
          </a:prstGeom>
        </p:spPr>
      </p:pic>
    </p:spTree>
    <p:extLst>
      <p:ext uri="{BB962C8B-B14F-4D97-AF65-F5344CB8AC3E}">
        <p14:creationId xmlns:p14="http://schemas.microsoft.com/office/powerpoint/2010/main" val="48836059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F65046-1BCA-B9AA-0B81-D02B052F37CC}"/>
              </a:ext>
            </a:extLst>
          </p:cNvPr>
          <p:cNvSpPr>
            <a:spLocks noGrp="1"/>
          </p:cNvSpPr>
          <p:nvPr>
            <p:ph type="title"/>
          </p:nvPr>
        </p:nvSpPr>
        <p:spPr>
          <a:xfrm>
            <a:off x="769620" y="1299448"/>
            <a:ext cx="4486656" cy="1141497"/>
          </a:xfrm>
        </p:spPr>
        <p:txBody>
          <a:bodyPr/>
          <a:lstStyle/>
          <a:p>
            <a:r>
              <a:rPr lang="en-US"/>
              <a:t>Example 1</a:t>
            </a:r>
          </a:p>
        </p:txBody>
      </p:sp>
      <p:sp>
        <p:nvSpPr>
          <p:cNvPr id="3" name="Content Placeholder 2">
            <a:extLst>
              <a:ext uri="{FF2B5EF4-FFF2-40B4-BE49-F238E27FC236}">
                <a16:creationId xmlns:a16="http://schemas.microsoft.com/office/drawing/2014/main" id="{32564334-6A3D-9F8D-9E37-C4FE0DBB02DD}"/>
              </a:ext>
            </a:extLst>
          </p:cNvPr>
          <p:cNvSpPr>
            <a:spLocks noGrp="1"/>
          </p:cNvSpPr>
          <p:nvPr>
            <p:ph idx="1"/>
          </p:nvPr>
        </p:nvSpPr>
        <p:spPr/>
        <p:txBody>
          <a:bodyPr vert="horz" lIns="91440" tIns="45720" rIns="91440" bIns="45720" rtlCol="0" anchor="t">
            <a:normAutofit/>
          </a:bodyPr>
          <a:lstStyle/>
          <a:p>
            <a:r>
              <a:rPr lang="en-US"/>
              <a:t>Correct Label: </a:t>
            </a:r>
            <a:r>
              <a:rPr lang="en-US" err="1"/>
              <a:t>SuicideWatch</a:t>
            </a:r>
            <a:endParaRPr lang="en-US"/>
          </a:p>
          <a:p>
            <a:r>
              <a:rPr lang="en-US"/>
              <a:t>Predicted: depression</a:t>
            </a:r>
          </a:p>
          <a:p>
            <a:r>
              <a:rPr lang="en-US"/>
              <a:t>This post uses positive or neutral language at the beginning, which is very misleading</a:t>
            </a:r>
          </a:p>
          <a:p>
            <a:r>
              <a:rPr lang="en-US"/>
              <a:t>The only part that hints the suicidal ideation is the last part: “I couldn’t”, but it doesn’t show a strong tone which is that transformer relies heavily on.</a:t>
            </a:r>
          </a:p>
          <a:p>
            <a:endParaRPr lang="en-US"/>
          </a:p>
        </p:txBody>
      </p:sp>
      <p:sp>
        <p:nvSpPr>
          <p:cNvPr id="4" name="Text Placeholder 3">
            <a:extLst>
              <a:ext uri="{FF2B5EF4-FFF2-40B4-BE49-F238E27FC236}">
                <a16:creationId xmlns:a16="http://schemas.microsoft.com/office/drawing/2014/main" id="{312F7C5C-1CCF-1C89-E74A-F5C2053A06BB}"/>
              </a:ext>
            </a:extLst>
          </p:cNvPr>
          <p:cNvSpPr>
            <a:spLocks noGrp="1"/>
          </p:cNvSpPr>
          <p:nvPr>
            <p:ph type="body" sz="half" idx="2"/>
          </p:nvPr>
        </p:nvSpPr>
        <p:spPr/>
        <p:txBody>
          <a:bodyPr>
            <a:normAutofit/>
          </a:bodyPr>
          <a:lstStyle/>
          <a:p>
            <a:r>
              <a:rPr lang="en-US" sz="2400"/>
              <a:t>“I'm </a:t>
            </a:r>
            <a:r>
              <a:rPr lang="en-US" sz="2400" err="1"/>
              <a:t>ready!Haha</a:t>
            </a:r>
            <a:r>
              <a:rPr lang="en-US" sz="2400"/>
              <a:t> yay! ...</a:t>
            </a:r>
          </a:p>
          <a:p>
            <a:r>
              <a:rPr lang="en-US" sz="2400"/>
              <a:t>Please be happy. I hope joy and success for you. I wish you get through the hard days. I couldn't."</a:t>
            </a:r>
          </a:p>
          <a:p>
            <a:endParaRPr lang="en-US"/>
          </a:p>
        </p:txBody>
      </p:sp>
    </p:spTree>
    <p:extLst>
      <p:ext uri="{BB962C8B-B14F-4D97-AF65-F5344CB8AC3E}">
        <p14:creationId xmlns:p14="http://schemas.microsoft.com/office/powerpoint/2010/main" val="360356186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A7B9E0-263D-90F0-C680-CD95A234200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06DFD84-9986-FD34-A838-E69B8C5992D7}"/>
              </a:ext>
            </a:extLst>
          </p:cNvPr>
          <p:cNvSpPr>
            <a:spLocks noGrp="1"/>
          </p:cNvSpPr>
          <p:nvPr>
            <p:ph type="title"/>
          </p:nvPr>
        </p:nvSpPr>
        <p:spPr/>
        <p:txBody>
          <a:bodyPr/>
          <a:lstStyle/>
          <a:p>
            <a:r>
              <a:rPr lang="en-US"/>
              <a:t>ERROR </a:t>
            </a:r>
            <a:r>
              <a:rPr lang="en-US" err="1"/>
              <a:t>ANALysis</a:t>
            </a:r>
            <a:r>
              <a:rPr lang="en-US"/>
              <a:t>: semantic overlap</a:t>
            </a:r>
          </a:p>
        </p:txBody>
      </p:sp>
      <p:sp>
        <p:nvSpPr>
          <p:cNvPr id="3" name="Content Placeholder 2">
            <a:extLst>
              <a:ext uri="{FF2B5EF4-FFF2-40B4-BE49-F238E27FC236}">
                <a16:creationId xmlns:a16="http://schemas.microsoft.com/office/drawing/2014/main" id="{424165C5-476D-1FBD-156F-C9D1FEA9A645}"/>
              </a:ext>
            </a:extLst>
          </p:cNvPr>
          <p:cNvSpPr>
            <a:spLocks noGrp="1"/>
          </p:cNvSpPr>
          <p:nvPr>
            <p:ph idx="1"/>
          </p:nvPr>
        </p:nvSpPr>
        <p:spPr/>
        <p:txBody>
          <a:bodyPr vert="horz" lIns="91440" tIns="45720" rIns="91440" bIns="45720" rtlCol="0" anchor="t">
            <a:normAutofit fontScale="85000" lnSpcReduction="20000"/>
          </a:bodyPr>
          <a:lstStyle/>
          <a:p>
            <a:pPr>
              <a:buNone/>
            </a:pPr>
            <a:r>
              <a:rPr lang="en-US" b="1"/>
              <a:t>Depression vs. </a:t>
            </a:r>
            <a:r>
              <a:rPr lang="en-US" b="1" err="1"/>
              <a:t>SuicideWatch</a:t>
            </a:r>
            <a:endParaRPr lang="zh-CN" altLang="en-US" err="1"/>
          </a:p>
          <a:p>
            <a:pPr>
              <a:buFont typeface="Arial"/>
              <a:buChar char="•"/>
            </a:pPr>
            <a:r>
              <a:rPr lang="en-US">
                <a:ea typeface="+mn-lt"/>
                <a:cs typeface="+mn-lt"/>
              </a:rPr>
              <a:t>Both share similar vocabulary</a:t>
            </a:r>
          </a:p>
          <a:p>
            <a:pPr>
              <a:buFont typeface="Arial"/>
              <a:buChar char="•"/>
            </a:pPr>
            <a:r>
              <a:rPr lang="en-US">
                <a:ea typeface="+mn-lt"/>
                <a:cs typeface="+mn-lt"/>
              </a:rPr>
              <a:t>Many posts only have one line of suicidal intent.</a:t>
            </a:r>
            <a:endParaRPr lang="en-US"/>
          </a:p>
          <a:p>
            <a:pPr>
              <a:buFont typeface="Arial"/>
              <a:buChar char="•"/>
            </a:pPr>
            <a:r>
              <a:rPr lang="en-US">
                <a:ea typeface="+mn-lt"/>
                <a:cs typeface="+mn-lt"/>
              </a:rPr>
              <a:t>When the intent is subtle or implicit:</a:t>
            </a:r>
            <a:endParaRPr lang="en-US"/>
          </a:p>
          <a:p>
            <a:pPr marL="742950" lvl="1" indent="-285750">
              <a:buFont typeface="Arial"/>
              <a:buChar char="•"/>
            </a:pPr>
            <a:r>
              <a:rPr lang="en-US">
                <a:ea typeface="+mn-lt"/>
                <a:cs typeface="+mn-lt"/>
              </a:rPr>
              <a:t>Model predicts depression, not </a:t>
            </a:r>
            <a:r>
              <a:rPr lang="en-US" err="1">
                <a:ea typeface="+mn-lt"/>
                <a:cs typeface="+mn-lt"/>
              </a:rPr>
              <a:t>SuicideWatch</a:t>
            </a:r>
            <a:r>
              <a:rPr lang="en-US">
                <a:ea typeface="+mn-lt"/>
                <a:cs typeface="+mn-lt"/>
              </a:rPr>
              <a:t>.</a:t>
            </a:r>
            <a:endParaRPr lang="en-US"/>
          </a:p>
          <a:p>
            <a:pPr>
              <a:buFont typeface="Arial"/>
              <a:buChar char="•"/>
            </a:pPr>
            <a:r>
              <a:rPr lang="en-US">
                <a:ea typeface="+mn-lt"/>
                <a:cs typeface="+mn-lt"/>
              </a:rPr>
              <a:t>Confusion matrix shows heavy crossover between these two classes.</a:t>
            </a:r>
            <a:endParaRPr lang="en-US"/>
          </a:p>
          <a:p>
            <a:pPr marL="0" indent="0">
              <a:buNone/>
            </a:pPr>
            <a:r>
              <a:rPr lang="en-US" b="1"/>
              <a:t>Cause</a:t>
            </a:r>
            <a:endParaRPr lang="en-US"/>
          </a:p>
          <a:p>
            <a:pPr>
              <a:buFont typeface="Arial"/>
              <a:buChar char="•"/>
            </a:pPr>
            <a:r>
              <a:rPr lang="en-US">
                <a:ea typeface="+mn-lt"/>
                <a:cs typeface="+mn-lt"/>
              </a:rPr>
              <a:t>Emotional content overlaps</a:t>
            </a:r>
            <a:endParaRPr lang="en-US"/>
          </a:p>
          <a:p>
            <a:pPr>
              <a:buFont typeface="Arial"/>
              <a:buChar char="•"/>
            </a:pPr>
            <a:r>
              <a:rPr lang="en-US">
                <a:ea typeface="+mn-lt"/>
                <a:cs typeface="+mn-lt"/>
              </a:rPr>
              <a:t>Label noise in dataset</a:t>
            </a:r>
            <a:endParaRPr lang="en-US"/>
          </a:p>
          <a:p>
            <a:pPr>
              <a:buFont typeface="Arial"/>
              <a:buChar char="•"/>
            </a:pPr>
            <a:r>
              <a:rPr lang="en-US">
                <a:ea typeface="+mn-lt"/>
                <a:cs typeface="+mn-lt"/>
              </a:rPr>
              <a:t>Suicidal intent often phrased indirectly</a:t>
            </a:r>
            <a:endParaRPr lang="en-US"/>
          </a:p>
          <a:p>
            <a:pPr marL="0" indent="0">
              <a:buNone/>
            </a:pPr>
            <a:endParaRPr lang="en-US"/>
          </a:p>
        </p:txBody>
      </p:sp>
    </p:spTree>
    <p:extLst>
      <p:ext uri="{BB962C8B-B14F-4D97-AF65-F5344CB8AC3E}">
        <p14:creationId xmlns:p14="http://schemas.microsoft.com/office/powerpoint/2010/main" val="170052800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4A80CE8-6B9B-E94E-236C-48729AD23E8B}"/>
              </a:ext>
            </a:extLst>
          </p:cNvPr>
          <p:cNvSpPr>
            <a:spLocks noGrp="1"/>
          </p:cNvSpPr>
          <p:nvPr>
            <p:ph type="title"/>
          </p:nvPr>
        </p:nvSpPr>
        <p:spPr/>
        <p:txBody>
          <a:bodyPr/>
          <a:lstStyle/>
          <a:p>
            <a:r>
              <a:rPr lang="zh-CN" altLang="en-US">
                <a:ea typeface="华文中宋"/>
              </a:rPr>
              <a:t>Error analysis: Label noise</a:t>
            </a:r>
            <a:endParaRPr lang="zh-CN" altLang="en-US"/>
          </a:p>
        </p:txBody>
      </p:sp>
      <p:sp>
        <p:nvSpPr>
          <p:cNvPr id="3" name="内容占位符 2">
            <a:extLst>
              <a:ext uri="{FF2B5EF4-FFF2-40B4-BE49-F238E27FC236}">
                <a16:creationId xmlns:a16="http://schemas.microsoft.com/office/drawing/2014/main" id="{C874B312-6F30-F212-5647-E63281B6705C}"/>
              </a:ext>
            </a:extLst>
          </p:cNvPr>
          <p:cNvSpPr>
            <a:spLocks noGrp="1"/>
          </p:cNvSpPr>
          <p:nvPr>
            <p:ph idx="1"/>
          </p:nvPr>
        </p:nvSpPr>
        <p:spPr/>
        <p:txBody>
          <a:bodyPr vert="horz" lIns="91440" tIns="45720" rIns="91440" bIns="45720" rtlCol="0" anchor="t">
            <a:normAutofit/>
          </a:bodyPr>
          <a:lstStyle/>
          <a:p>
            <a:pPr marL="0" indent="0">
              <a:buNone/>
            </a:pPr>
            <a:r>
              <a:rPr lang="zh-CN" b="1"/>
              <a:t>Subreddit Labels ≠ Clinical Labels</a:t>
            </a:r>
            <a:endParaRPr lang="zh-CN" altLang="en-US"/>
          </a:p>
          <a:p>
            <a:r>
              <a:rPr lang="zh-CN">
                <a:ea typeface="+mn-lt"/>
                <a:cs typeface="+mn-lt"/>
              </a:rPr>
              <a:t>Some “depression” posts contain explicit suicide plans.</a:t>
            </a:r>
            <a:endParaRPr lang="zh-CN"/>
          </a:p>
          <a:p>
            <a:r>
              <a:rPr lang="zh-CN">
                <a:ea typeface="+mn-lt"/>
                <a:cs typeface="+mn-lt"/>
              </a:rPr>
              <a:t>Some “SuicideWatch” posts contain only general sadness.</a:t>
            </a:r>
            <a:endParaRPr lang="zh-CN"/>
          </a:p>
          <a:p>
            <a:r>
              <a:rPr lang="zh-CN">
                <a:ea typeface="+mn-lt"/>
                <a:cs typeface="+mn-lt"/>
              </a:rPr>
              <a:t>Teenagers subreddit includes serious mental health discussions.</a:t>
            </a:r>
            <a:endParaRPr lang="zh-CN"/>
          </a:p>
          <a:p>
            <a:r>
              <a:rPr lang="zh-CN">
                <a:ea typeface="+mn-lt"/>
                <a:cs typeface="+mn-lt"/>
              </a:rPr>
              <a:t>Model often “misclassifies” posts where:</a:t>
            </a:r>
            <a:endParaRPr lang="zh-CN"/>
          </a:p>
          <a:p>
            <a:pPr lvl="1"/>
            <a:r>
              <a:rPr lang="zh-CN">
                <a:ea typeface="+mn-lt"/>
                <a:cs typeface="+mn-lt"/>
              </a:rPr>
              <a:t>The content contradicts the assigned subreddit label</a:t>
            </a:r>
            <a:endParaRPr lang="zh-CN" altLang="en-US">
              <a:ea typeface="华文中宋" panose="02010600040101010101" pitchFamily="2" charset="-122"/>
            </a:endParaRPr>
          </a:p>
          <a:p>
            <a:r>
              <a:rPr lang="en-US" altLang="zh-CN">
                <a:ea typeface="+mn-lt"/>
                <a:cs typeface="+mn-lt"/>
              </a:rPr>
              <a:t>S</a:t>
            </a:r>
            <a:r>
              <a:rPr lang="zh-CN">
                <a:ea typeface="+mn-lt"/>
                <a:cs typeface="+mn-lt"/>
              </a:rPr>
              <a:t>ometimes reflect bad ground truth, not model weakness.</a:t>
            </a:r>
            <a:endParaRPr lang="zh-CN"/>
          </a:p>
          <a:p>
            <a:endParaRPr lang="zh-CN" altLang="en-US">
              <a:ea typeface="华文中宋"/>
            </a:endParaRPr>
          </a:p>
        </p:txBody>
      </p:sp>
    </p:spTree>
    <p:extLst>
      <p:ext uri="{BB962C8B-B14F-4D97-AF65-F5344CB8AC3E}">
        <p14:creationId xmlns:p14="http://schemas.microsoft.com/office/powerpoint/2010/main" val="251814524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2A1BE80-0C95-D4A7-23B4-E3E2726FA0A4}"/>
              </a:ext>
            </a:extLst>
          </p:cNvPr>
          <p:cNvSpPr>
            <a:spLocks noGrp="1"/>
          </p:cNvSpPr>
          <p:nvPr>
            <p:ph type="title"/>
          </p:nvPr>
        </p:nvSpPr>
        <p:spPr/>
        <p:txBody>
          <a:bodyPr/>
          <a:lstStyle/>
          <a:p>
            <a:r>
              <a:rPr lang="zh-CN" altLang="en-US">
                <a:ea typeface="华文中宋"/>
              </a:rPr>
              <a:t>Error Analysis: false positives</a:t>
            </a:r>
            <a:endParaRPr lang="zh-CN" altLang="en-US"/>
          </a:p>
        </p:txBody>
      </p:sp>
      <p:sp>
        <p:nvSpPr>
          <p:cNvPr id="3" name="内容占位符 2">
            <a:extLst>
              <a:ext uri="{FF2B5EF4-FFF2-40B4-BE49-F238E27FC236}">
                <a16:creationId xmlns:a16="http://schemas.microsoft.com/office/drawing/2014/main" id="{085EA4C9-3FFC-DA22-AE54-96FB59A8BBB0}"/>
              </a:ext>
            </a:extLst>
          </p:cNvPr>
          <p:cNvSpPr>
            <a:spLocks noGrp="1"/>
          </p:cNvSpPr>
          <p:nvPr>
            <p:ph idx="1"/>
          </p:nvPr>
        </p:nvSpPr>
        <p:spPr/>
        <p:txBody>
          <a:bodyPr vert="horz" lIns="91440" tIns="45720" rIns="91440" bIns="45720" rtlCol="0" anchor="t">
            <a:normAutofit/>
          </a:bodyPr>
          <a:lstStyle/>
          <a:p>
            <a:pPr marL="0" indent="0">
              <a:buNone/>
            </a:pPr>
            <a:r>
              <a:rPr lang="zh-CN">
                <a:ea typeface="+mn-lt"/>
                <a:cs typeface="+mn-lt"/>
              </a:rPr>
              <a:t>Teenagers use hyperbolic slang:</a:t>
            </a:r>
            <a:endParaRPr lang="zh-CN" altLang="en-US"/>
          </a:p>
          <a:p>
            <a:r>
              <a:rPr lang="zh-CN">
                <a:ea typeface="+mn-lt"/>
                <a:cs typeface="+mn-lt"/>
              </a:rPr>
              <a:t>“I’m dying of embarrassment”</a:t>
            </a:r>
            <a:endParaRPr lang="zh-CN"/>
          </a:p>
          <a:p>
            <a:r>
              <a:rPr lang="zh-CN">
                <a:ea typeface="+mn-lt"/>
                <a:cs typeface="+mn-lt"/>
              </a:rPr>
              <a:t>“Kill me now”</a:t>
            </a:r>
            <a:endParaRPr lang="zh-CN"/>
          </a:p>
          <a:p>
            <a:pPr marL="0" indent="0">
              <a:buNone/>
            </a:pPr>
            <a:r>
              <a:rPr lang="en-US" altLang="zh-CN" dirty="0">
                <a:ea typeface="+mn-lt"/>
                <a:cs typeface="+mn-lt"/>
              </a:rPr>
              <a:t>Model</a:t>
            </a:r>
            <a:r>
              <a:rPr lang="zh-CN" altLang="en-US" dirty="0">
                <a:ea typeface="+mn-lt"/>
                <a:cs typeface="+mn-lt"/>
              </a:rPr>
              <a:t> </a:t>
            </a:r>
            <a:r>
              <a:rPr lang="en-US" altLang="zh-CN" dirty="0">
                <a:ea typeface="+mn-lt"/>
                <a:cs typeface="+mn-lt"/>
              </a:rPr>
              <a:t>treats</a:t>
            </a:r>
            <a:r>
              <a:rPr lang="zh-CN" altLang="en-US" dirty="0">
                <a:ea typeface="+mn-lt"/>
                <a:cs typeface="+mn-lt"/>
              </a:rPr>
              <a:t> </a:t>
            </a:r>
            <a:r>
              <a:rPr lang="en-US" altLang="zh-CN" dirty="0">
                <a:ea typeface="+mn-lt"/>
                <a:cs typeface="+mn-lt"/>
              </a:rPr>
              <a:t>these</a:t>
            </a:r>
            <a:r>
              <a:rPr lang="zh-CN" altLang="en-US" dirty="0">
                <a:ea typeface="+mn-lt"/>
                <a:cs typeface="+mn-lt"/>
              </a:rPr>
              <a:t> </a:t>
            </a:r>
            <a:r>
              <a:rPr lang="en-US" altLang="zh-CN" dirty="0">
                <a:ea typeface="+mn-lt"/>
                <a:cs typeface="+mn-lt"/>
              </a:rPr>
              <a:t>as</a:t>
            </a:r>
            <a:r>
              <a:rPr lang="zh-CN" altLang="en-US" dirty="0">
                <a:ea typeface="+mn-lt"/>
                <a:cs typeface="+mn-lt"/>
              </a:rPr>
              <a:t> </a:t>
            </a:r>
            <a:r>
              <a:rPr lang="en-US" altLang="zh-CN" dirty="0">
                <a:ea typeface="+mn-lt"/>
                <a:cs typeface="+mn-lt"/>
              </a:rPr>
              <a:t>literal</a:t>
            </a:r>
            <a:r>
              <a:rPr lang="zh-CN" altLang="en-US" dirty="0">
                <a:ea typeface="+mn-lt"/>
                <a:cs typeface="+mn-lt"/>
              </a:rPr>
              <a:t> </a:t>
            </a:r>
            <a:r>
              <a:rPr lang="en-US" altLang="zh-CN" dirty="0">
                <a:ea typeface="+mn-lt"/>
                <a:cs typeface="+mn-lt"/>
              </a:rPr>
              <a:t>suicidal</a:t>
            </a:r>
            <a:r>
              <a:rPr lang="zh-CN" altLang="en-US" dirty="0">
                <a:ea typeface="+mn-lt"/>
                <a:cs typeface="+mn-lt"/>
              </a:rPr>
              <a:t> </a:t>
            </a:r>
            <a:r>
              <a:rPr lang="en-US" altLang="zh-CN" dirty="0">
                <a:ea typeface="+mn-lt"/>
                <a:cs typeface="+mn-lt"/>
              </a:rPr>
              <a:t>signals</a:t>
            </a:r>
            <a:endParaRPr lang="zh-CN" dirty="0"/>
          </a:p>
          <a:p>
            <a:pPr>
              <a:buFont typeface="Arial"/>
              <a:buChar char="•"/>
            </a:pPr>
            <a:r>
              <a:rPr lang="en-US" dirty="0">
                <a:ea typeface="+mn-lt"/>
                <a:cs typeface="+mn-lt"/>
              </a:rPr>
              <a:t>Short posts dominated by strong trigger words</a:t>
            </a:r>
            <a:endParaRPr lang="en-US" dirty="0"/>
          </a:p>
          <a:p>
            <a:pPr>
              <a:buFont typeface="Arial"/>
              <a:buChar char="•"/>
            </a:pPr>
            <a:r>
              <a:rPr lang="en-US" dirty="0">
                <a:ea typeface="+mn-lt"/>
                <a:cs typeface="+mn-lt"/>
              </a:rPr>
              <a:t>No narrative context</a:t>
            </a:r>
            <a:endParaRPr lang="en-US" dirty="0"/>
          </a:p>
          <a:p>
            <a:pPr>
              <a:buFont typeface="Arial"/>
              <a:buChar char="•"/>
            </a:pPr>
            <a:r>
              <a:rPr lang="en-US" dirty="0">
                <a:ea typeface="+mn-lt"/>
                <a:cs typeface="+mn-lt"/>
              </a:rPr>
              <a:t>Literal vs. figurative meaning is hard for models</a:t>
            </a:r>
            <a:endParaRPr lang="en-US" dirty="0"/>
          </a:p>
          <a:p>
            <a:pPr marL="0" indent="0">
              <a:buNone/>
            </a:pPr>
            <a:endParaRPr lang="en-US" altLang="zh-CN" dirty="0">
              <a:ea typeface="华文中宋" panose="02010600040101010101" pitchFamily="2" charset="-122"/>
            </a:endParaRPr>
          </a:p>
        </p:txBody>
      </p:sp>
    </p:spTree>
    <p:extLst>
      <p:ext uri="{BB962C8B-B14F-4D97-AF65-F5344CB8AC3E}">
        <p14:creationId xmlns:p14="http://schemas.microsoft.com/office/powerpoint/2010/main" val="123503816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832D08-60CD-BA53-9B9C-BD1C2C6C33C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DFB3CC3-1B09-83C9-E906-B406FC4141D3}"/>
              </a:ext>
            </a:extLst>
          </p:cNvPr>
          <p:cNvSpPr>
            <a:spLocks noGrp="1"/>
          </p:cNvSpPr>
          <p:nvPr>
            <p:ph type="title"/>
          </p:nvPr>
        </p:nvSpPr>
        <p:spPr>
          <a:xfrm>
            <a:off x="769620" y="1299448"/>
            <a:ext cx="4486656" cy="1141497"/>
          </a:xfrm>
        </p:spPr>
        <p:txBody>
          <a:bodyPr/>
          <a:lstStyle/>
          <a:p>
            <a:r>
              <a:rPr lang="en-US"/>
              <a:t>Example 2</a:t>
            </a:r>
          </a:p>
        </p:txBody>
      </p:sp>
      <p:sp>
        <p:nvSpPr>
          <p:cNvPr id="3" name="Content Placeholder 2">
            <a:extLst>
              <a:ext uri="{FF2B5EF4-FFF2-40B4-BE49-F238E27FC236}">
                <a16:creationId xmlns:a16="http://schemas.microsoft.com/office/drawing/2014/main" id="{F9F648ED-FC79-F70C-BBC6-D75E8ECE13BC}"/>
              </a:ext>
            </a:extLst>
          </p:cNvPr>
          <p:cNvSpPr>
            <a:spLocks noGrp="1"/>
          </p:cNvSpPr>
          <p:nvPr>
            <p:ph idx="1"/>
          </p:nvPr>
        </p:nvSpPr>
        <p:spPr/>
        <p:txBody>
          <a:bodyPr/>
          <a:lstStyle/>
          <a:p>
            <a:r>
              <a:rPr lang="en-US"/>
              <a:t>Correct Label: teenagers</a:t>
            </a:r>
          </a:p>
          <a:p>
            <a:r>
              <a:rPr lang="en-US"/>
              <a:t>Predicted: depression</a:t>
            </a:r>
          </a:p>
          <a:p>
            <a:r>
              <a:rPr lang="en-US"/>
              <a:t>For a human being, this is for sure a joke written in </a:t>
            </a:r>
            <a:r>
              <a:rPr lang="en-US" err="1"/>
              <a:t>sarcastical</a:t>
            </a:r>
            <a:r>
              <a:rPr lang="en-US"/>
              <a:t> language, but for the model, the only thing they would capture is the high-risk emotional deterioration because of the "crying for help" at the end</a:t>
            </a:r>
          </a:p>
          <a:p>
            <a:r>
              <a:rPr lang="en-US"/>
              <a:t>Also, the writing style doesn't resemble typical teenager, as there are keywords like "marriage" and "kids”</a:t>
            </a:r>
          </a:p>
          <a:p>
            <a:r>
              <a:rPr lang="en-US"/>
              <a:t>This is an example of an inconsistent and noisy example</a:t>
            </a:r>
          </a:p>
        </p:txBody>
      </p:sp>
      <p:sp>
        <p:nvSpPr>
          <p:cNvPr id="4" name="Text Placeholder 3">
            <a:extLst>
              <a:ext uri="{FF2B5EF4-FFF2-40B4-BE49-F238E27FC236}">
                <a16:creationId xmlns:a16="http://schemas.microsoft.com/office/drawing/2014/main" id="{4429BF8A-1391-7F51-B13F-A94E21345A07}"/>
              </a:ext>
            </a:extLst>
          </p:cNvPr>
          <p:cNvSpPr>
            <a:spLocks noGrp="1"/>
          </p:cNvSpPr>
          <p:nvPr>
            <p:ph type="body" sz="half" idx="2"/>
          </p:nvPr>
        </p:nvSpPr>
        <p:spPr>
          <a:xfrm>
            <a:off x="167165" y="3074061"/>
            <a:ext cx="5691565" cy="3465479"/>
          </a:xfrm>
        </p:spPr>
        <p:txBody>
          <a:bodyPr>
            <a:noAutofit/>
          </a:bodyPr>
          <a:lstStyle/>
          <a:p>
            <a:r>
              <a:rPr lang="en-US" sz="2400"/>
              <a:t>"I am cripplingly addicted to custard Edit: r/custard wouldn't take me so I come here for salvation.</a:t>
            </a:r>
          </a:p>
          <a:p>
            <a:r>
              <a:rPr lang="en-US" sz="2400"/>
              <a:t>… This is a cry for help. </a:t>
            </a:r>
          </a:p>
          <a:p>
            <a:r>
              <a:rPr lang="en-US" sz="2400"/>
              <a:t>Please</a:t>
            </a:r>
          </a:p>
          <a:p>
            <a:r>
              <a:rPr lang="en-US" sz="2400"/>
              <a:t>Save me."</a:t>
            </a:r>
          </a:p>
        </p:txBody>
      </p:sp>
    </p:spTree>
    <p:extLst>
      <p:ext uri="{BB962C8B-B14F-4D97-AF65-F5344CB8AC3E}">
        <p14:creationId xmlns:p14="http://schemas.microsoft.com/office/powerpoint/2010/main" val="252156585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93A413F-B8D3-7470-E770-C8836D3F975C}"/>
              </a:ext>
            </a:extLst>
          </p:cNvPr>
          <p:cNvSpPr>
            <a:spLocks noGrp="1"/>
          </p:cNvSpPr>
          <p:nvPr>
            <p:ph sz="half" idx="2"/>
          </p:nvPr>
        </p:nvSpPr>
        <p:spPr>
          <a:xfrm>
            <a:off x="854439" y="2313433"/>
            <a:ext cx="4999245" cy="3426593"/>
          </a:xfrm>
        </p:spPr>
        <p:txBody>
          <a:bodyPr/>
          <a:lstStyle/>
          <a:p>
            <a:r>
              <a:rPr lang="en-US"/>
              <a:t>Kyle: Preprocessing the dataset and setting up the repo</a:t>
            </a:r>
          </a:p>
          <a:p>
            <a:r>
              <a:rPr lang="en-US" err="1"/>
              <a:t>Haocheng</a:t>
            </a:r>
            <a:r>
              <a:rPr lang="en-US"/>
              <a:t>: Implementing the baseline and transformer models and gathering results</a:t>
            </a:r>
          </a:p>
          <a:p>
            <a:r>
              <a:rPr lang="en-US"/>
              <a:t>Rena: Error analysis and organizing thoughts for the project report and presentation</a:t>
            </a:r>
          </a:p>
          <a:p>
            <a:endParaRPr lang="en-US"/>
          </a:p>
          <a:p>
            <a:pPr marL="0" indent="0">
              <a:buNone/>
            </a:pPr>
            <a:r>
              <a:rPr lang="en-US"/>
              <a:t>All equal work for the </a:t>
            </a:r>
            <a:r>
              <a:rPr lang="en-US" err="1"/>
              <a:t>slidedeck</a:t>
            </a:r>
            <a:endParaRPr lang="en-US"/>
          </a:p>
        </p:txBody>
      </p:sp>
      <p:sp>
        <p:nvSpPr>
          <p:cNvPr id="4" name="Content Placeholder 3">
            <a:extLst>
              <a:ext uri="{FF2B5EF4-FFF2-40B4-BE49-F238E27FC236}">
                <a16:creationId xmlns:a16="http://schemas.microsoft.com/office/drawing/2014/main" id="{BC0517F8-E625-7BFB-8AD2-5668F310E389}"/>
              </a:ext>
            </a:extLst>
          </p:cNvPr>
          <p:cNvSpPr>
            <a:spLocks noGrp="1"/>
          </p:cNvSpPr>
          <p:nvPr>
            <p:ph sz="quarter" idx="4"/>
          </p:nvPr>
        </p:nvSpPr>
        <p:spPr>
          <a:xfrm>
            <a:off x="6338315" y="2313433"/>
            <a:ext cx="4769395" cy="3426593"/>
          </a:xfrm>
        </p:spPr>
        <p:txBody>
          <a:bodyPr vert="horz" lIns="91440" tIns="45720" rIns="91440" bIns="45720" rtlCol="0" anchor="t">
            <a:normAutofit/>
          </a:bodyPr>
          <a:lstStyle/>
          <a:p>
            <a:pPr marL="0" indent="0">
              <a:buNone/>
            </a:pPr>
            <a:r>
              <a:rPr lang="en-US"/>
              <a:t>"Marketing pitch," i.e., why do you think you've done a good job? </a:t>
            </a:r>
          </a:p>
          <a:p>
            <a:r>
              <a:rPr lang="en-US"/>
              <a:t>Tackling a real, high-impact problem</a:t>
            </a:r>
          </a:p>
          <a:p>
            <a:r>
              <a:rPr lang="en-US"/>
              <a:t>Combination of classical ML and cutting-edge transformers</a:t>
            </a:r>
          </a:p>
          <a:p>
            <a:r>
              <a:rPr lang="en-US"/>
              <a:t>Detailed and efficient implementation</a:t>
            </a:r>
          </a:p>
          <a:p>
            <a:r>
              <a:rPr lang="en-US"/>
              <a:t>Strong performance – 86% macro-F1</a:t>
            </a:r>
          </a:p>
          <a:p>
            <a:r>
              <a:rPr lang="en-US"/>
              <a:t>Deep Error Analysis</a:t>
            </a:r>
          </a:p>
          <a:p>
            <a:endParaRPr lang="en-US"/>
          </a:p>
          <a:p>
            <a:endParaRPr lang="en-US"/>
          </a:p>
        </p:txBody>
      </p:sp>
      <p:sp>
        <p:nvSpPr>
          <p:cNvPr id="6" name="Title 5">
            <a:extLst>
              <a:ext uri="{FF2B5EF4-FFF2-40B4-BE49-F238E27FC236}">
                <a16:creationId xmlns:a16="http://schemas.microsoft.com/office/drawing/2014/main" id="{E7B28343-EFFB-A203-2976-FDE77236FB11}"/>
              </a:ext>
            </a:extLst>
          </p:cNvPr>
          <p:cNvSpPr>
            <a:spLocks noGrp="1"/>
          </p:cNvSpPr>
          <p:nvPr>
            <p:ph type="title"/>
          </p:nvPr>
        </p:nvSpPr>
        <p:spPr/>
        <p:txBody>
          <a:bodyPr/>
          <a:lstStyle/>
          <a:p>
            <a:r>
              <a:rPr lang="en-US"/>
              <a:t>Team Member Contributions and pitch</a:t>
            </a:r>
          </a:p>
        </p:txBody>
      </p:sp>
    </p:spTree>
    <p:extLst>
      <p:ext uri="{BB962C8B-B14F-4D97-AF65-F5344CB8AC3E}">
        <p14:creationId xmlns:p14="http://schemas.microsoft.com/office/powerpoint/2010/main" val="300208345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528CD2-14CE-4E6D-DE16-27F02B8AE1C7}"/>
              </a:ext>
            </a:extLst>
          </p:cNvPr>
          <p:cNvSpPr>
            <a:spLocks noGrp="1"/>
          </p:cNvSpPr>
          <p:nvPr>
            <p:ph type="ctrTitle"/>
          </p:nvPr>
        </p:nvSpPr>
        <p:spPr/>
        <p:txBody>
          <a:bodyPr/>
          <a:lstStyle/>
          <a:p>
            <a:r>
              <a:rPr lang="en-US"/>
              <a:t>Thank you!</a:t>
            </a:r>
          </a:p>
        </p:txBody>
      </p:sp>
    </p:spTree>
    <p:extLst>
      <p:ext uri="{BB962C8B-B14F-4D97-AF65-F5344CB8AC3E}">
        <p14:creationId xmlns:p14="http://schemas.microsoft.com/office/powerpoint/2010/main" val="604951515"/>
      </p:ext>
    </p:extLst>
  </p:cSld>
  <p:clrMapOvr>
    <a:masterClrMapping/>
  </p:clrMapOvr>
</p:sld>
</file>

<file path=ppt/theme/theme1.xml><?xml version="1.0" encoding="utf-8"?>
<a:theme xmlns:a="http://schemas.openxmlformats.org/drawingml/2006/main" name="Parcel">
  <a:themeElements>
    <a:clrScheme name="Parcel">
      <a:dk1>
        <a:srgbClr val="000000"/>
      </a:dk1>
      <a:lt1>
        <a:srgbClr val="FFFFFF"/>
      </a:lt1>
      <a:dk2>
        <a:srgbClr val="4A5356"/>
      </a:dk2>
      <a:lt2>
        <a:srgbClr val="E8E3CE"/>
      </a:lt2>
      <a:accent1>
        <a:srgbClr val="F6A21D"/>
      </a:accent1>
      <a:accent2>
        <a:srgbClr val="9BAFB5"/>
      </a:accent2>
      <a:accent3>
        <a:srgbClr val="C96731"/>
      </a:accent3>
      <a:accent4>
        <a:srgbClr val="9CA383"/>
      </a:accent4>
      <a:accent5>
        <a:srgbClr val="87795D"/>
      </a:accent5>
      <a:accent6>
        <a:srgbClr val="A0988C"/>
      </a:accent6>
      <a:hlink>
        <a:srgbClr val="00B0F0"/>
      </a:hlink>
      <a:folHlink>
        <a:srgbClr val="738F97"/>
      </a:folHlink>
    </a:clrScheme>
    <a:fontScheme name="Parcel">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Parcel">
      <a:fillStyleLst>
        <a:solidFill>
          <a:schemeClr val="phClr"/>
        </a:solidFill>
        <a:gradFill rotWithShape="1">
          <a:gsLst>
            <a:gs pos="0">
              <a:schemeClr val="phClr">
                <a:tint val="80000"/>
                <a:satMod val="107000"/>
                <a:lumMod val="103000"/>
              </a:schemeClr>
            </a:gs>
            <a:gs pos="100000">
              <a:schemeClr val="phClr">
                <a:tint val="82000"/>
                <a:satMod val="109000"/>
                <a:lumMod val="103000"/>
              </a:schemeClr>
            </a:gs>
          </a:gsLst>
          <a:lin ang="5400000" scaled="0"/>
        </a:gradFill>
        <a:gradFill rotWithShape="1">
          <a:gsLst>
            <a:gs pos="0">
              <a:schemeClr val="phClr">
                <a:tint val="97000"/>
                <a:satMod val="100000"/>
                <a:lumMod val="102000"/>
              </a:schemeClr>
            </a:gs>
            <a:gs pos="50000">
              <a:schemeClr val="phClr">
                <a:shade val="100000"/>
                <a:satMod val="103000"/>
                <a:lumMod val="100000"/>
              </a:schemeClr>
            </a:gs>
            <a:gs pos="100000">
              <a:schemeClr val="phClr">
                <a:shade val="93000"/>
                <a:satMod val="110000"/>
                <a:lumMod val="99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31750" cap="flat" cmpd="sng" algn="ctr">
          <a:solidFill>
            <a:schemeClr val="phClr"/>
          </a:solidFill>
          <a:prstDash val="solid"/>
        </a:ln>
      </a:lnStyleLst>
      <a:effectStyleLst>
        <a:effectStyle>
          <a:effectLst/>
        </a:effectStyle>
        <a:effectStyle>
          <a:effectLst/>
        </a:effectStyle>
        <a:effectStyle>
          <a:effectLst>
            <a:outerShdw blurRad="55880" dist="15240" dir="5400000" algn="ctr" rotWithShape="0">
              <a:srgbClr val="000000">
                <a:alpha val="45000"/>
              </a:srgbClr>
            </a:outerShdw>
          </a:effectLst>
          <a:scene3d>
            <a:camera prst="orthographicFront">
              <a:rot lat="0" lon="0" rev="0"/>
            </a:camera>
            <a:lightRig rig="brightRoom" dir="tl"/>
          </a:scene3d>
          <a:sp3d prstMaterial="dkEdge">
            <a:bevelT w="0" h="0"/>
          </a:sp3d>
        </a:effectStyle>
      </a:effectStyleLst>
      <a:bgFillStyleLst>
        <a:solidFill>
          <a:schemeClr val="phClr"/>
        </a:solidFill>
        <a:solidFill>
          <a:schemeClr val="phClr">
            <a:tint val="95000"/>
            <a:satMod val="170000"/>
          </a:schemeClr>
        </a:solidFill>
        <a:gradFill rotWithShape="1">
          <a:gsLst>
            <a:gs pos="0">
              <a:schemeClr val="phClr">
                <a:tint val="97000"/>
                <a:shade val="100000"/>
                <a:satMod val="185000"/>
                <a:lumMod val="120000"/>
              </a:schemeClr>
            </a:gs>
            <a:gs pos="100000">
              <a:schemeClr val="phClr">
                <a:tint val="96000"/>
                <a:shade val="95000"/>
                <a:satMod val="215000"/>
                <a:lumMod val="80000"/>
              </a:schemeClr>
            </a:gs>
          </a:gsLst>
          <a:path path="circle">
            <a:fillToRect l="50000" t="55000" r="125000" b="100000"/>
          </a:path>
        </a:gradFill>
      </a:bgFillStyleLst>
    </a:fmtScheme>
  </a:themeElements>
  <a:objectDefaults/>
  <a:extraClrSchemeLst/>
  <a:extLst>
    <a:ext uri="{05A4C25C-085E-4340-85A3-A5531E510DB2}">
      <thm15:themeFamily xmlns:thm15="http://schemas.microsoft.com/office/thememl/2012/main" name="Parcel" id="{8BEC4385-4EB9-4D53-BFB5-0EA123736B6D}" vid="{4DB32801-28C0-48B0-8C1D-A9A58613615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Parcel</Template>
  <Application>Microsoft Office PowerPoint</Application>
  <PresentationFormat>宽屏</PresentationFormat>
  <Slides>17</Slides>
  <Notes>1</Notes>
  <HiddenSlides>0</HiddenSlides>
  <ScaleCrop>false</ScaleCrop>
  <HeadingPairs>
    <vt:vector size="4" baseType="variant">
      <vt:variant>
        <vt:lpstr>主题</vt:lpstr>
      </vt:variant>
      <vt:variant>
        <vt:i4>1</vt:i4>
      </vt:variant>
      <vt:variant>
        <vt:lpstr>幻灯片标题</vt:lpstr>
      </vt:variant>
      <vt:variant>
        <vt:i4>17</vt:i4>
      </vt:variant>
    </vt:vector>
  </HeadingPairs>
  <TitlesOfParts>
    <vt:vector size="18" baseType="lpstr">
      <vt:lpstr>Parcel</vt:lpstr>
      <vt:lpstr>Early Detection of Mental Health Crises Using A Transformer Architecture</vt:lpstr>
      <vt:lpstr>Problem &amp; Motivation</vt:lpstr>
      <vt:lpstr>Data Source &amp; Observations</vt:lpstr>
      <vt:lpstr>Data Limitations &amp; Challenges</vt:lpstr>
      <vt:lpstr>Baseline TF-IDF MODEL</vt:lpstr>
      <vt:lpstr>DistilBERT model</vt:lpstr>
      <vt:lpstr>Baseline Results By label</vt:lpstr>
      <vt:lpstr>Results Comparison</vt:lpstr>
      <vt:lpstr>ERROR ANALysis: Common themes</vt:lpstr>
      <vt:lpstr>Error analysis: long text truncation</vt:lpstr>
      <vt:lpstr>Example 1</vt:lpstr>
      <vt:lpstr>ERROR ANALysis: semantic overlap</vt:lpstr>
      <vt:lpstr>Error analysis: Label noise</vt:lpstr>
      <vt:lpstr>Error Analysis: false positives</vt:lpstr>
      <vt:lpstr>Example 2</vt:lpstr>
      <vt:lpstr>Team Member Contributions and pitch</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Dervin, Kyle James - (kdervin)</dc:creator>
  <cp:revision>52</cp:revision>
  <dcterms:created xsi:type="dcterms:W3CDTF">2025-12-04T15:50:20Z</dcterms:created>
  <dcterms:modified xsi:type="dcterms:W3CDTF">2025-12-08T23:24:58Z</dcterms:modified>
</cp:coreProperties>
</file>